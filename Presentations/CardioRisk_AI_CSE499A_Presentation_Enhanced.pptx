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A8E8"/>
                </a:solidFill>
              </a:defRPr>
            </a:pPr>
            <a:r>
              <a:t>NORTH SOUTH UNIVERSITY • DEPARTMENT OF COMPUTER SCIENCE &amp; ENGINEERING</a:t>
            </a:r>
          </a:p>
          <a:p>
            <a:pPr>
              <a:defRPr sz="4400" b="1">
                <a:solidFill>
                  <a:srgbClr val="F8F9FA"/>
                </a:solidFill>
              </a:defRPr>
            </a:pPr>
            <a:r>
              <a:t>CardioRisk AI</a:t>
            </a:r>
          </a:p>
          <a:p>
            <a:pPr>
              <a:defRPr sz="1800">
                <a:solidFill>
                  <a:srgbClr val="9CA3AF"/>
                </a:solidFill>
              </a:defRPr>
            </a:pPr>
            <a:r>
              <a:t>A Multimodal Deep Learning System for Accessible Cardiovascular Risk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840480"/>
            <a:ext cx="10360152" cy="21945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023360"/>
            <a:ext cx="9784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2EC4B6"/>
                </a:solidFill>
              </a:defRPr>
            </a:pPr>
            <a:r>
              <a:t>CSE 499A: SENIOR DESIGN CAPSTONE DEFENSE</a:t>
            </a:r>
          </a:p>
          <a:p>
            <a:pPr>
              <a:spcAft>
                <a:spcPts val="400"/>
              </a:spcAft>
              <a:defRPr sz="1200">
                <a:solidFill>
                  <a:srgbClr val="F8F9FA"/>
                </a:solidFill>
              </a:defRPr>
            </a:pPr>
            <a:r>
              <a:t>• Candidate: Hussain Mahabub (Student ID: 2111015642)  |  CSE 499A - Section 10 - Group 10</a:t>
            </a:r>
          </a:p>
          <a:p>
            <a:pPr>
              <a:spcAft>
                <a:spcPts val="400"/>
              </a:spcAft>
              <a:defRPr sz="1200">
                <a:solidFill>
                  <a:srgbClr val="F8F9FA"/>
                </a:solidFill>
              </a:defRPr>
            </a:pPr>
            <a:r>
              <a:t>• Faculty Supervisor: Shahnewaz Siddique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• Scope: 6-Modality Architecture • 151k Scaled Cohort • Real-Time DSP • TreeSHAP Explainability • Stacking Late Fusion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SENIOR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The Global Cardiovascular Disease Crisis (The Clinical 'What?')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E63946"/>
                </a:solidFill>
              </a:defRPr>
            </a:pPr>
            <a:r>
              <a:t>GLOBAL MORTALITY SCALE</a:t>
            </a:r>
          </a:p>
          <a:p>
            <a:pPr>
              <a:spcAft>
                <a:spcPts val="1200"/>
              </a:spcAft>
              <a:defRPr b="1" sz="1400">
                <a:solidFill>
                  <a:srgbClr val="F8F9FA"/>
                </a:solidFill>
              </a:defRPr>
            </a:pPr>
            <a:r>
              <a:t>17.9M Annual Deaths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Cardiovascular disease accounts for 32% of all global fatalities.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Someone experiences an acute cardiac event every 40 seconds.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$555 Billion annual economic burden in the US healthcare system alone.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Developing nations experience over 75% of global cardiovascular deaths.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0A8E8"/>
                </a:solidFill>
              </a:defRPr>
            </a:pPr>
            <a:r>
              <a:t>TRADITIONAL SCREENING BOTTLENECKS</a:t>
            </a:r>
          </a:p>
          <a:p>
            <a:pPr>
              <a:spcAft>
                <a:spcPts val="1200"/>
              </a:spcAft>
              <a:defRPr b="1" sz="1400">
                <a:solidFill>
                  <a:srgbClr val="F8F9FA"/>
                </a:solidFill>
              </a:defRPr>
            </a:pPr>
            <a:r>
              <a:t>Specialized Facility Dependence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Standard workups demand on-site visits and specialized hospital equipment.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Stationary 12-lead ECG carts are unavailable in rural medical posts.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Severe specialist shortages create dangerous waiting lists for diagnostics.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Mandatory phlebotomy lab tests delay triage decisions by days or weeks.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2EC4B6"/>
                </a:solidFill>
              </a:defRPr>
            </a:pPr>
            <a:r>
              <a:t>THE ACCESSIBILITY GAP</a:t>
            </a:r>
          </a:p>
          <a:p>
            <a:pPr>
              <a:spcAft>
                <a:spcPts val="1200"/>
              </a:spcAft>
              <a:defRPr b="1" sz="1400">
                <a:solidFill>
                  <a:srgbClr val="F8F9FA"/>
                </a:solidFill>
              </a:defRPr>
            </a:pPr>
            <a:r>
              <a:t>Democratizing Triage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CardioRisk AI addresses systemic disparities through accessible screening.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Eliminates the requirement for specialized external clinical hardware.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Pairs camera rPPG, acoustic PCG, and SCG via mobile web telemetry.</a:t>
            </a:r>
          </a:p>
          <a:p>
            <a:pPr>
              <a:spcAft>
                <a:spcPts val="600"/>
              </a:spcAft>
              <a:defRPr sz="1100">
                <a:solidFill>
                  <a:srgbClr val="9CA3AF"/>
                </a:solidFill>
              </a:defRPr>
            </a:pPr>
            <a:r>
              <a:t>• Early non-invasive screening directly prevents avoidable mortality.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SENIOR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Background, Research Gaps &amp; Primary Contributions (The 'Why?')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200">
                <a:solidFill>
                  <a:srgbClr val="E63946"/>
                </a:solidFill>
              </a:defRPr>
            </a:pPr>
            <a:r>
              <a:t>CRITICAL RESEARCH &amp; CLINICAL GAPS</a:t>
            </a:r>
          </a:p>
          <a:p>
            <a:pPr>
              <a:defRPr b="1" sz="1100">
                <a:solidFill>
                  <a:srgbClr val="F8F9FA"/>
                </a:solidFill>
              </a:defRPr>
            </a:pPr>
            <a:r>
              <a:t>1. Single-Modality Isolation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Prior literature focuses strictly on isolated tasks (e.g., pure ECG, pure audio, or tabular alone). Isolated models completely miss cross-domain correlations between electrical, acoustic, and vascular mechanics.</a:t>
            </a:r>
          </a:p>
          <a:p>
            <a:pPr>
              <a:defRPr b="1" sz="1100">
                <a:solidFill>
                  <a:srgbClr val="F8F9FA"/>
                </a:solidFill>
              </a:defRPr>
            </a:pPr>
            <a:r>
              <a:t>2. Purely Tabular Blindness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Conventional clinical calculators (Framingham, ASCVD, QRISK3) achieve AUCs of only 0.70-0.75, require laboratory blood panels, and cannot detect acute electrophysiological abnormalities.</a:t>
            </a:r>
          </a:p>
          <a:p>
            <a:pPr>
              <a:defRPr b="1" sz="1100">
                <a:solidFill>
                  <a:srgbClr val="F8F9FA"/>
                </a:solidFill>
              </a:defRPr>
            </a:pPr>
            <a:r>
              <a:t>3. Black-Box Opacity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Standard deep networks fail to explain predictions to clinicians, limiting clinical trust and omitting actionable patient roadmaps.</a:t>
            </a:r>
          </a:p>
          <a:p>
            <a:pPr>
              <a:defRPr b="1" sz="1100">
                <a:solidFill>
                  <a:srgbClr val="F8F9FA"/>
                </a:solidFill>
              </a:defRPr>
            </a:pPr>
            <a:r>
              <a:t>4. Deployment Deficit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Academic models remain isolated in research scripts without production-ready client-server architectures.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200">
                <a:solidFill>
                  <a:srgbClr val="2EC4B6"/>
                </a:solidFill>
              </a:defRPr>
            </a:pPr>
            <a:r>
              <a:t>CARDIORISK AI KEY CONTRIBUTIONS</a:t>
            </a:r>
          </a:p>
          <a:p>
            <a:pPr>
              <a:defRPr b="1" sz="1100">
                <a:solidFill>
                  <a:srgbClr val="F8F9FA"/>
                </a:solidFill>
              </a:defRPr>
            </a:pPr>
            <a:r>
              <a:t>6-Modality Physiological Integration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Unifies Tabular biometrics, 12-lead ECG, PCG heart sounds, camera rPPG, SCG kinetic vibrations, and Retinal U-Net imaging.</a:t>
            </a:r>
          </a:p>
          <a:p>
            <a:pPr>
              <a:defRPr b="1" sz="1100">
                <a:solidFill>
                  <a:srgbClr val="F8F9FA"/>
                </a:solidFill>
              </a:defRPr>
            </a:pPr>
            <a:r>
              <a:t>151k Scaled Multi-Cohort Classifier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Expanded tabular training across 151,860 patient profiles, balancing sensitivity to 71.0% via ACC/AHA interaction markers and Youden's J thresholding.</a:t>
            </a:r>
          </a:p>
          <a:p>
            <a:pPr>
              <a:defRPr b="1" sz="1100">
                <a:solidFill>
                  <a:srgbClr val="F8F9FA"/>
                </a:solidFill>
              </a:defRPr>
            </a:pPr>
            <a:r>
              <a:t>Dynamic Confidence Late Fusion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Prevents model dilution by dynamically weighting active channels based on diagnostic certainty rather than rigid static averages.</a:t>
            </a:r>
          </a:p>
          <a:p>
            <a:pPr>
              <a:defRPr b="1" sz="1100">
                <a:solidFill>
                  <a:srgbClr val="F8F9FA"/>
                </a:solidFill>
              </a:defRPr>
            </a:pPr>
            <a:r>
              <a:t>TreeSHAP &amp; Counterfactual Actions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Decomposes risk into exact log-odds contributions and generates quantifiable lifestyle improvement steps (e.g., -8.5% smoking cessation).</a:t>
            </a:r>
          </a:p>
          <a:p>
            <a:pPr>
              <a:defRPr b="1" sz="1100">
                <a:solidFill>
                  <a:srgbClr val="F8F9FA"/>
                </a:solidFill>
              </a:defRPr>
            </a:pPr>
            <a:r>
              <a:t>Enterprise 4-Tier Web Platform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Fully realized client-server system (Streamlit + FastAPI) with asynchronous processing and HL7/FHIR R4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SENIOR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Enterprise 4-Tier Software Architecture (The 'How?')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960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5564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0A8E8"/>
                </a:solidFill>
              </a:defRPr>
            </a:pPr>
            <a:r>
              <a:t>Tier 1: Presentation Layer (Streamlit • Port 8501)</a:t>
            </a:r>
          </a:p>
          <a:p>
            <a:pPr>
              <a:defRPr sz="1100">
                <a:solidFill>
                  <a:srgbClr val="F8F9FA"/>
                </a:solidFill>
              </a:defRPr>
            </a:pPr>
            <a:r>
              <a:t>Clinician Command Center, multi-modal intake forms, interactive gauge charts, real-time waveform annotation studio, and interactive What-If scenario simulator.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725912" cy="960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9864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EC4B6"/>
                </a:solidFill>
              </a:defRPr>
            </a:pPr>
            <a:r>
              <a:t>Tier 2: API Gateway &amp; DSP Layer (FastAPI • Port 8000)</a:t>
            </a:r>
          </a:p>
          <a:p>
            <a:pPr>
              <a:defRPr sz="1100">
                <a:solidFill>
                  <a:srgbClr val="F8F9FA"/>
                </a:solidFill>
              </a:defRPr>
            </a:pPr>
            <a:r>
              <a:t>High-performance asynchronous endpoints, Pydantic data contracts, OpenCV spatial green-channel averaging, and 4th-order Butterworth temporal bandpass filtering.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5912" cy="960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4164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63946"/>
                </a:solidFill>
              </a:defRPr>
            </a:pPr>
            <a:r>
              <a:t>Tier 3: Model &amp; Logic Layer (TensorFlow &amp; XGBoost)</a:t>
            </a:r>
          </a:p>
          <a:p>
            <a:pPr>
              <a:defRPr sz="1100">
                <a:solidFill>
                  <a:srgbClr val="F8F9FA"/>
                </a:solidFill>
              </a:defRPr>
            </a:pPr>
            <a:r>
              <a:t>Inference runtime housing the 1D-CNN (ECG, SCG), 2D-CNN (PCG), 2D U-Net (Retinal), Cost-Sensitive XGBoost (Tabular), and the Calibrated Stacking Meta-Learner.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725912" cy="960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18464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0A8E8"/>
                </a:solidFill>
              </a:defRPr>
            </a:pPr>
            <a:r>
              <a:t>Tier 4: Persistence &amp; Interoperability Layer (SQLite / FHIR)</a:t>
            </a:r>
          </a:p>
          <a:p>
            <a:pPr>
              <a:defRPr sz="1100">
                <a:solidFill>
                  <a:srgbClr val="F8F9FA"/>
                </a:solidFill>
              </a:defRPr>
            </a:pPr>
            <a:r>
              <a:t>Encrypted patient database storing longitudinal patient trajectories, multi-visit consultation tracking, audit logging, and HL7/FHIR R4 JSON clinical dossier exports.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SENIOR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Modality 1: Tabular Classifier Scaled across 151,860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200">
                <a:solidFill>
                  <a:srgbClr val="00A8E8"/>
                </a:solidFill>
              </a:defRPr>
            </a:pPr>
            <a:r>
              <a:t>LARGE-SCALE COHORT HARMONIZATION &amp; BIOMARKERS</a:t>
            </a:r>
          </a:p>
          <a:p>
            <a:pPr>
              <a:defRPr b="1" sz="1100">
                <a:solidFill>
                  <a:srgbClr val="F8F9FA"/>
                </a:solidFill>
              </a:defRPr>
            </a:pPr>
            <a:r>
              <a:t>• Unified Multi-Source Cohort: </a:t>
            </a:r>
          </a:p>
          <a:p>
            <a:pPr>
              <a:spcAft>
                <a:spcPts val="400"/>
              </a:spcAft>
              <a:defRPr sz="1000">
                <a:solidFill>
                  <a:srgbClr val="9CA3AF"/>
                </a:solidFill>
              </a:defRPr>
            </a:pPr>
            <a:r>
              <a:t>  Aggregated 151,860 patient records from Kaggle CVD (70k), Framingham Heart Study, and UCI Cleveland datasets to resolve single-center demographic bias.</a:t>
            </a:r>
          </a:p>
          <a:p>
            <a:pPr>
              <a:defRPr b="1" sz="1100">
                <a:solidFill>
                  <a:srgbClr val="F8F9FA"/>
                </a:solidFill>
              </a:defRPr>
            </a:pPr>
            <a:r>
              <a:t>• Non-Linear Hemodynamic Features: </a:t>
            </a:r>
          </a:p>
          <a:p>
            <a:pPr>
              <a:spcAft>
                <a:spcPts val="400"/>
              </a:spcAft>
              <a:defRPr sz="1000">
                <a:solidFill>
                  <a:srgbClr val="9CA3AF"/>
                </a:solidFill>
              </a:defRPr>
            </a:pPr>
            <a:r>
              <a:t>  Engineered clinical interaction ratios: Mean Arterial Pressure (MAP), Pulse Pressure (arterial stiffness indicator), and ACC/AHA hypertension stages.</a:t>
            </a:r>
          </a:p>
          <a:p>
            <a:pPr>
              <a:defRPr b="1" sz="1100">
                <a:solidFill>
                  <a:srgbClr val="F8F9FA"/>
                </a:solidFill>
              </a:defRPr>
            </a:pPr>
            <a:r>
              <a:t>• Atherogenic Risk Proxy: </a:t>
            </a:r>
          </a:p>
          <a:p>
            <a:pPr>
              <a:spcAft>
                <a:spcPts val="400"/>
              </a:spcAft>
              <a:defRPr sz="1000">
                <a:solidFill>
                  <a:srgbClr val="9CA3AF"/>
                </a:solidFill>
              </a:defRPr>
            </a:pPr>
            <a:r>
              <a:t>  Formulated Cholesterol-to-Glucose ratios and Pack-Years smoking intensity metrics.</a:t>
            </a:r>
          </a:p>
          <a:p>
            <a:pPr>
              <a:defRPr b="1" sz="1100">
                <a:solidFill>
                  <a:srgbClr val="F8F9FA"/>
                </a:solidFill>
              </a:defRPr>
            </a:pPr>
            <a:r>
              <a:t>• Cost-Sensitive XGBoost: </a:t>
            </a:r>
          </a:p>
          <a:p>
            <a:pPr>
              <a:spcAft>
                <a:spcPts val="400"/>
              </a:spcAft>
              <a:defRPr sz="1000">
                <a:solidFill>
                  <a:srgbClr val="9CA3AF"/>
                </a:solidFill>
              </a:defRPr>
            </a:pPr>
            <a:r>
              <a:t>  Trained using scale_pos_weight = 1.095 to aggressively penalize under-diagnosing high-risk cardiovascular patients.</a:t>
            </a:r>
          </a:p>
          <a:p>
            <a:pPr>
              <a:defRPr b="1" sz="1100">
                <a:solidFill>
                  <a:srgbClr val="F8F9FA"/>
                </a:solidFill>
              </a:defRPr>
            </a:pPr>
            <a:r>
              <a:t>• Youden's J Probability Calibration: </a:t>
            </a:r>
          </a:p>
          <a:p>
            <a:pPr>
              <a:spcAft>
                <a:spcPts val="400"/>
              </a:spcAft>
              <a:defRPr sz="1000">
                <a:solidFill>
                  <a:srgbClr val="9CA3AF"/>
                </a:solidFill>
              </a:defRPr>
            </a:pPr>
            <a:r>
              <a:t>  Adjusted decision threshold from rigid 0.50 to J = 0.4769 via 5-fold cross-validated isotonic regression, achieving balanced 71.0% recall.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645920"/>
            <a:ext cx="4206240" cy="10058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755648"/>
            <a:ext cx="3840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A8E8"/>
                </a:solidFill>
              </a:defRPr>
            </a:pPr>
            <a:r>
              <a:t>151,860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Total Patient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2788920"/>
            <a:ext cx="4206240" cy="10058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898648"/>
            <a:ext cx="3840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EC4B6"/>
                </a:solidFill>
              </a:defRPr>
            </a:pPr>
            <a:r>
              <a:t>0.8139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ROC-AUC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931920"/>
            <a:ext cx="4206240" cy="10058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4041648"/>
            <a:ext cx="3840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E63946"/>
                </a:solidFill>
              </a:defRPr>
            </a:pPr>
            <a:r>
              <a:t>71.00%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Abnormal Recall (Sensitivity)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5074920"/>
            <a:ext cx="4206240" cy="10058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5184648"/>
            <a:ext cx="3840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A8E8"/>
                </a:solidFill>
              </a:defRPr>
            </a:pPr>
            <a:r>
              <a:t>0.7257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Balanced F1-Score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SENIOR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Modalities 2 &amp; 3: Electrophysiological &amp; Acoustic Deep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0A8E8"/>
                </a:solidFill>
              </a:defRPr>
            </a:pPr>
            <a:r>
              <a:t>MODALITY 2: 12-LEAD ECG 1D-CNN</a:t>
            </a:r>
          </a:p>
          <a:p>
            <a:pPr>
              <a:spcAft>
                <a:spcPts val="1000"/>
              </a:spcAft>
              <a:defRPr b="1" sz="1300">
                <a:solidFill>
                  <a:srgbClr val="F8F9FA"/>
                </a:solidFill>
              </a:defRPr>
            </a:pPr>
            <a:r>
              <a:t>PTB-XL Diagnostic Database (21,799 Multi-Lead Records)</a:t>
            </a:r>
          </a:p>
          <a:p>
            <a:pPr>
              <a:spcAft>
                <a:spcPts val="600"/>
              </a:spcAft>
              <a:defRPr sz="1050">
                <a:solidFill>
                  <a:srgbClr val="9CA3AF"/>
                </a:solidFill>
              </a:defRPr>
            </a:pPr>
            <a:r>
              <a:t>• Input Tensor: (1000, 12) spatial lead matrix capturing simultaneous multi-vector depolarization voltages.</a:t>
            </a:r>
          </a:p>
          <a:p>
            <a:pPr>
              <a:spcAft>
                <a:spcPts val="600"/>
              </a:spcAft>
              <a:defRPr sz="1050">
                <a:solidFill>
                  <a:srgbClr val="9CA3AF"/>
                </a:solidFill>
              </a:defRPr>
            </a:pPr>
            <a:r>
              <a:t>• Architecture: 3-stage temporal convolutional blocks (64 → 128 → 256 filters) with batch normalization and Global Average Pooling.</a:t>
            </a:r>
          </a:p>
          <a:p>
            <a:pPr>
              <a:spcAft>
                <a:spcPts val="600"/>
              </a:spcAft>
              <a:defRPr sz="1050">
                <a:solidFill>
                  <a:srgbClr val="9CA3AF"/>
                </a:solidFill>
              </a:defRPr>
            </a:pPr>
            <a:r>
              <a:t>• Validation Protocol: Evaluated on stratified holdout test splits against clinical diagnostic superclasses (Normal vs. Arrhythmia/Ischemia).</a:t>
            </a:r>
          </a:p>
          <a:p>
            <a:pPr>
              <a:spcAft>
                <a:spcPts val="600"/>
              </a:spcAft>
              <a:defRPr sz="1050">
                <a:solidFill>
                  <a:srgbClr val="9CA3AF"/>
                </a:solidFill>
              </a:defRPr>
            </a:pPr>
            <a:r>
              <a:t>• Empirical Performance: 0.9360 ROC-AUC with 97.85% sensitivity on abnormal conduction.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E63946"/>
                </a:solidFill>
              </a:defRPr>
            </a:pPr>
            <a:r>
              <a:t>MODALITY 3: PHONOCARDIOGRAM (PCG) 2D-CNN</a:t>
            </a:r>
          </a:p>
          <a:p>
            <a:pPr>
              <a:spcAft>
                <a:spcPts val="1000"/>
              </a:spcAft>
              <a:defRPr b="1" sz="1300">
                <a:solidFill>
                  <a:srgbClr val="F8F9FA"/>
                </a:solidFill>
              </a:defRPr>
            </a:pPr>
            <a:r>
              <a:t>PhysioNet / CinC 2016 Challenge (7,800+ WAV Audio Files)</a:t>
            </a:r>
          </a:p>
          <a:p>
            <a:pPr>
              <a:spcAft>
                <a:spcPts val="600"/>
              </a:spcAft>
              <a:defRPr sz="1050">
                <a:solidFill>
                  <a:srgbClr val="9CA3AF"/>
                </a:solidFill>
              </a:defRPr>
            </a:pPr>
            <a:r>
              <a:t>• DSP Audio Pipeline: Resampled to 2,000 Hz, noise-reduced, and transformed into 64×64 Log-Mel Spectrograms.</a:t>
            </a:r>
          </a:p>
          <a:p>
            <a:pPr>
              <a:spcAft>
                <a:spcPts val="600"/>
              </a:spcAft>
              <a:defRPr sz="1050">
                <a:solidFill>
                  <a:srgbClr val="9CA3AF"/>
                </a:solidFill>
              </a:defRPr>
            </a:pPr>
            <a:r>
              <a:t>• Architecture: Deep 2D convolutional network (32, 64, 128 kernels) with spatial max-pooling and dense dropout layers.</a:t>
            </a:r>
          </a:p>
          <a:p>
            <a:pPr>
              <a:spcAft>
                <a:spcPts val="600"/>
              </a:spcAft>
              <a:defRPr sz="1050">
                <a:solidFill>
                  <a:srgbClr val="9CA3AF"/>
                </a:solidFill>
              </a:defRPr>
            </a:pPr>
            <a:r>
              <a:t>• Diagnostic Target: Identifies valvular regurgitation, structural murmurs, and abnormal S3/S4 acoustic splitting.</a:t>
            </a:r>
          </a:p>
          <a:p>
            <a:pPr>
              <a:spcAft>
                <a:spcPts val="600"/>
              </a:spcAft>
              <a:defRPr sz="1050">
                <a:solidFill>
                  <a:srgbClr val="9CA3AF"/>
                </a:solidFill>
              </a:defRPr>
            </a:pPr>
            <a:r>
              <a:t>• Validation Protocol: Verified on official CinC challenge validation splits, achieving 0.8000 ROC-AUC.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SENIOR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Modalities 4, 5 &amp; 6: Optical, Kinetic &amp; Microvascular Branches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2EC4B6"/>
                </a:solidFill>
              </a:defRPr>
            </a:pPr>
            <a:r>
              <a:t>4. OPTICAL PPG &amp; HRV (CAMERA)</a:t>
            </a:r>
          </a:p>
          <a:p>
            <a:pPr>
              <a:spcAft>
                <a:spcPts val="1000"/>
              </a:spcAft>
              <a:defRPr b="1" sz="1300">
                <a:solidFill>
                  <a:srgbClr val="F8F9FA"/>
                </a:solidFill>
              </a:defRPr>
            </a:pPr>
            <a:r>
              <a:t>Zero-Hardware Pulse Ingestion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• Tracks facial or fingertip capillary blood absorption via standard webcam or smartphone camera.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• 4th-order zero-phase Butterworth bandpass filter (0.7-3.5 Hz) isolates cardiac pulsation from motion.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• Deterministic DSP peak detection computes autonomic metrics: SDNN, RMSSD, and pNN50.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• Benchmarked against BIDMC clinical pulse-oximetry gold truth (98.40% Peak F1).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0A8E8"/>
                </a:solidFill>
              </a:defRPr>
            </a:pPr>
            <a:r>
              <a:t>5. SCG ACCELEROMETER (IMU)</a:t>
            </a:r>
          </a:p>
          <a:p>
            <a:pPr>
              <a:spcAft>
                <a:spcPts val="1000"/>
              </a:spcAft>
              <a:defRPr b="1" sz="1300">
                <a:solidFill>
                  <a:srgbClr val="F8F9FA"/>
                </a:solidFill>
              </a:defRPr>
            </a:pPr>
            <a:r>
              <a:t>Kinetic Cardiac Contraction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• TaebiLab-MSCardio benchmark (108 subjects, 996 records).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• Tri-axial (X, Y, Z) IMU micro-vibration acceleration timeseries processed via 1D-CNN.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• Identifies Aortic Opening (AO) and Mitral Closure (MC) mechanical ejection boundaries.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• 94.20% accuracy in peak timing identification relative to R-wave reference.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E63946"/>
                </a:solidFill>
              </a:defRPr>
            </a:pPr>
            <a:r>
              <a:t>6. RETINAL MICROVASCULATURE</a:t>
            </a:r>
          </a:p>
          <a:p>
            <a:pPr>
              <a:spcAft>
                <a:spcPts val="1000"/>
              </a:spcAft>
              <a:defRPr b="1" sz="1300">
                <a:solidFill>
                  <a:srgbClr val="F8F9FA"/>
                </a:solidFill>
              </a:defRPr>
            </a:pPr>
            <a:r>
              <a:t>Deep U-Net Vessel Segmentation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• Fundus-AVSeg and STARE fundus photographic imaging cohorts.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• Green-channel CLAHE contrast enhancement paired with deep 2D U-Net segmentation.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• Extracts objective end-organ damage biomarkers: vessel density ratio and vascular tortuosity index.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• 70.94% Dice coefficient for microvascular vessel boundary extraction.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SENIOR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Late-Fusion Decision Engine &amp; Dynamic Fault Tolerance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00A8E8"/>
                </a:solidFill>
              </a:defRPr>
            </a:pPr>
            <a:r>
              <a:t>DYNAMIC CONFIDENCE-WEIGHTED LATE FUSION</a:t>
            </a:r>
          </a:p>
          <a:p>
            <a:pPr>
              <a:spcAft>
                <a:spcPts val="800"/>
              </a:spcAft>
              <a:defRPr sz="1050">
                <a:solidFill>
                  <a:srgbClr val="9CA3AF"/>
                </a:solidFill>
              </a:defRPr>
            </a:pPr>
            <a:r>
              <a:t>The Static Dilution Problem:</a:t>
            </a:r>
            <a:br/>
            <a:r>
              <a:t>Traditional static averaging (e.g., 40% ECG + 40% PCG + 20% Tabular) causes low-confidence or noisy channels to dilute decisive signals, lowering overall system accuracy to ~76.79%.</a:t>
            </a:r>
          </a:p>
          <a:p>
            <a:pPr>
              <a:spcAft>
                <a:spcPts val="800"/>
              </a:spcAft>
              <a:defRPr sz="1050">
                <a:solidFill>
                  <a:srgbClr val="F8F9FA"/>
                </a:solidFill>
              </a:defRPr>
            </a:pPr>
            <a:r>
              <a:t>Dynamic Confidence Weighting Formulation:</a:t>
            </a:r>
            <a:br/>
            <a:r>
              <a:t>Confidence is computed from distance to the ambiguous 0.50 boundary:</a:t>
            </a:r>
            <a:br/>
            <a:r>
              <a:t>  • Confidence_m = 2.0 * |P_m - 0.50|</a:t>
            </a:r>
            <a:br/>
            <a:r>
              <a:t>  • Weight_m = Confidence_m / Σ (Confidence_k)</a:t>
            </a:r>
            <a:br/>
            <a:r>
              <a:t>  • Fused_Risk = Σ (Weight_m * P_m)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• Decisive channels (P → 1.0 or 0.0) receive dominant influence.</a:t>
            </a:r>
            <a:br/>
            <a:r>
              <a:t>• Ambiguous or corrupted channels (P ≈ 0.50) are safely down-weighted.</a:t>
            </a:r>
            <a:br/>
            <a:r>
              <a:t>• Incorporates a 95% empirical confidence interval [P - 6.5%, P + 6.5%].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200">
                <a:solidFill>
                  <a:srgbClr val="E63946"/>
                </a:solidFill>
              </a:defRPr>
            </a:pPr>
            <a:r>
              <a:t>FAULT TOLERANCE STRESS TEST: ECG NOISE INJECTION</a:t>
            </a:r>
          </a:p>
          <a:p>
            <a:pPr>
              <a:spcAft>
                <a:spcPts val="1000"/>
              </a:spcAft>
              <a:defRPr sz="1050">
                <a:solidFill>
                  <a:srgbClr val="9CA3AF"/>
                </a:solidFill>
              </a:defRPr>
            </a:pPr>
            <a:r>
              <a:t>Simulated Hardware Failure (Loose Leads / Motion Artifacts):</a:t>
            </a:r>
            <a:br/>
            <a:r>
              <a:t>Artificial Gaussian noise was injected into the active ECG channel, driving its diagnostic probability to maximum uncertainty (P ≈ 0.51).</a:t>
            </a:r>
          </a:p>
          <a:p>
            <a:pPr>
              <a:spcAft>
                <a:spcPts val="1000"/>
              </a:spcAft>
              <a:defRPr b="1" sz="1100">
                <a:solidFill>
                  <a:srgbClr val="F8F9FA"/>
                </a:solidFill>
              </a:defRPr>
            </a:pPr>
            <a:r>
              <a:t>Automated System Weight Re-Distribution:</a:t>
            </a:r>
            <a:br/>
            <a:r>
              <a:t>  • ECG Weight: 41.25% ➔ 3.13% (Automated ↓38.12% drop)</a:t>
            </a:r>
            <a:br/>
            <a:r>
              <a:t>  • Heart Sound Weight: 30.00% ➔ 60.00% (Compensated ↑30.00%)</a:t>
            </a:r>
            <a:br/>
            <a:r>
              <a:t>  • Tabular Weight: 28.75% ➔ 36.87% (Compensated ↑8.12%)</a:t>
            </a:r>
          </a:p>
          <a:p>
            <a:pPr>
              <a:defRPr sz="1050">
                <a:solidFill>
                  <a:srgbClr val="2EC4B6"/>
                </a:solidFill>
              </a:defRPr>
            </a:pPr>
            <a:r>
              <a:t>Clinical Outcome: The system maintained an accuracy of 81.55%, proving multi-sensor resilience against individual sensor corruption.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SENIOR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Explainable AI (TreeSHAP) &amp; Prescriptive Counterfactual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00A8E8"/>
                </a:solidFill>
              </a:defRPr>
            </a:pPr>
            <a:r>
              <a:t>TREESHAP ATTRIBUTION ENGINE</a:t>
            </a:r>
          </a:p>
          <a:p>
            <a:pPr>
              <a:spcAft>
                <a:spcPts val="1000"/>
              </a:spcAft>
              <a:defRPr sz="1050">
                <a:solidFill>
                  <a:srgbClr val="9CA3AF"/>
                </a:solidFill>
              </a:defRPr>
            </a:pPr>
            <a:r>
              <a:t>Exact Shapley Value Decompositions:</a:t>
            </a:r>
            <a:br/>
            <a:r>
              <a:t>Eliminates 'black-box' opacity by computing exact local feature attributions across power sets of clinical covariates:</a:t>
            </a:r>
          </a:p>
          <a:p>
            <a:pPr>
              <a:spcAft>
                <a:spcPts val="400"/>
              </a:spcAft>
              <a:defRPr sz="1000">
                <a:solidFill>
                  <a:srgbClr val="F8F9FA"/>
                </a:solidFill>
              </a:defRPr>
            </a:pPr>
            <a:r>
              <a:t>• Systolic Blood Pressure: +0.152 (Major Risk Increase (Hypertension))</a:t>
            </a:r>
          </a:p>
          <a:p>
            <a:pPr>
              <a:spcAft>
                <a:spcPts val="400"/>
              </a:spcAft>
              <a:defRPr sz="1000">
                <a:solidFill>
                  <a:srgbClr val="F8F9FA"/>
                </a:solidFill>
              </a:defRPr>
            </a:pPr>
            <a:r>
              <a:t>• Patient Age (Years): +0.124 (Non-modifiable demographic risk)</a:t>
            </a:r>
          </a:p>
          <a:p>
            <a:pPr>
              <a:spcAft>
                <a:spcPts val="400"/>
              </a:spcAft>
              <a:defRPr sz="1000">
                <a:solidFill>
                  <a:srgbClr val="F8F9FA"/>
                </a:solidFill>
              </a:defRPr>
            </a:pPr>
            <a:r>
              <a:t>• Total Serum Cholesterol: +0.081 (Elevated lipid biomarker)</a:t>
            </a:r>
          </a:p>
          <a:p>
            <a:pPr>
              <a:spcAft>
                <a:spcPts val="400"/>
              </a:spcAft>
              <a:defRPr sz="1000">
                <a:solidFill>
                  <a:srgbClr val="F8F9FA"/>
                </a:solidFill>
              </a:defRPr>
            </a:pPr>
            <a:r>
              <a:t>• Active Cigarette Smoking: +0.062 (Behavioral endothelial damage)</a:t>
            </a:r>
          </a:p>
          <a:p>
            <a:pPr>
              <a:spcAft>
                <a:spcPts val="400"/>
              </a:spcAft>
              <a:defRPr sz="1000">
                <a:solidFill>
                  <a:srgbClr val="F8F9FA"/>
                </a:solidFill>
              </a:defRPr>
            </a:pPr>
            <a:r>
              <a:t>• Body Mass Index (BMI): +0.043 (Adiposity risk factor)</a:t>
            </a:r>
          </a:p>
          <a:p>
            <a:pPr>
              <a:spcAft>
                <a:spcPts val="400"/>
              </a:spcAft>
              <a:defRPr sz="1000">
                <a:solidFill>
                  <a:srgbClr val="F8F9FA"/>
                </a:solidFill>
              </a:defRPr>
            </a:pPr>
            <a:r>
              <a:t>• Physical Exercise: -0.038 (Cardioprotective reduction)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2EC4B6"/>
                </a:solidFill>
              </a:defRPr>
            </a:pPr>
            <a:r>
              <a:t>ACTIONABLE COUNTERFACTUAL ROADMAP</a:t>
            </a:r>
          </a:p>
          <a:p>
            <a:pPr>
              <a:spcAft>
                <a:spcPts val="1000"/>
              </a:spcAft>
              <a:defRPr sz="1050">
                <a:solidFill>
                  <a:srgbClr val="9CA3AF"/>
                </a:solidFill>
              </a:defRPr>
            </a:pPr>
            <a:r>
              <a:t>Prescriptive Lifestyle Interventions:</a:t>
            </a:r>
            <a:br/>
            <a:r>
              <a:t>Rather than only outputting a static risk score, CardioRisk AI computes the shortest mathematical path to de-escalate patient risk from High (85%) to Moderate (65%):</a:t>
            </a:r>
          </a:p>
          <a:p>
            <a:pPr>
              <a:spcAft>
                <a:spcPts val="600"/>
              </a:spcAft>
              <a:defRPr b="1" sz="1050">
                <a:solidFill>
                  <a:srgbClr val="F8F9FA"/>
                </a:solidFill>
              </a:defRPr>
            </a:pPr>
            <a:r>
              <a:t>✅ 1. Smoking Cessation (Active Smoker ➔ Non-Smoker): -8.5% Absolute Risk</a:t>
            </a:r>
          </a:p>
          <a:p>
            <a:pPr>
              <a:spcAft>
                <a:spcPts val="600"/>
              </a:spcAft>
              <a:defRPr b="1" sz="1050">
                <a:solidFill>
                  <a:srgbClr val="F8F9FA"/>
                </a:solidFill>
              </a:defRPr>
            </a:pPr>
            <a:r>
              <a:t>✅ 2. SBP Optimization (142 mmHg ➔ 120 mmHg (Target)): -5.1% Absolute Risk</a:t>
            </a:r>
          </a:p>
          <a:p>
            <a:pPr>
              <a:spcAft>
                <a:spcPts val="600"/>
              </a:spcAft>
              <a:defRPr b="1" sz="1050">
                <a:solidFill>
                  <a:srgbClr val="F8F9FA"/>
                </a:solidFill>
              </a:defRPr>
            </a:pPr>
            <a:r>
              <a:t>✅ 3. Aerobic Exercise (Sedentary ➔ 150 min/week): -6.2% Absolute Risk</a:t>
            </a:r>
          </a:p>
          <a:p>
            <a:pPr>
              <a:spcAft>
                <a:spcPts val="600"/>
              </a:spcAft>
              <a:defRPr b="1" sz="1050">
                <a:solidFill>
                  <a:srgbClr val="F8F9FA"/>
                </a:solidFill>
              </a:defRPr>
            </a:pPr>
            <a:r>
              <a:t>✅ 4. BMI Normalization (28.5 ➔ 24.0 kg/m²): -3.4% Absolute Risk</a:t>
            </a:r>
          </a:p>
          <a:p>
            <a:pPr>
              <a:spcAft>
                <a:spcPts val="600"/>
              </a:spcAft>
              <a:defRPr b="1" sz="1050">
                <a:solidFill>
                  <a:srgbClr val="F8F9FA"/>
                </a:solidFill>
              </a:defRPr>
            </a:pPr>
            <a:r>
              <a:t>✅ 5. Lipid Management (Above Normal ➔ Normal): -2.8% Absolute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SENIOR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Empirical Implementation Results &amp; Comparative Benchmarks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182"/>
                <a:gridCol w="2145182"/>
                <a:gridCol w="2145182"/>
                <a:gridCol w="2145182"/>
                <a:gridCol w="2145184"/>
              </a:tblGrid>
              <a:tr h="627017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A8E8"/>
                          </a:solidFill>
                        </a:defRPr>
                      </a:pPr>
                      <a:r>
                        <a:t>Diagnostic Modality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A8E8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A8E8"/>
                          </a:solidFill>
                        </a:defRPr>
                      </a:pPr>
                      <a:r>
                        <a:t>Training Cohort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A8E8"/>
                          </a:solidFill>
                        </a:defRPr>
                      </a:pPr>
                      <a:r>
                        <a:t>Primary Performance Metric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A8E8"/>
                          </a:solidFill>
                        </a:defRPr>
                      </a:pPr>
                      <a:r>
                        <a:t>Validation Protocol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9FA"/>
                          </a:solidFill>
                        </a:defRPr>
                      </a:pPr>
                      <a:r>
                        <a:t>1. Clinical Tabular Risk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CA3AF"/>
                          </a:solidFill>
                        </a:defRPr>
                      </a:pPr>
                      <a:r>
                        <a:t>Cost-Sensitive XGBoost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CA3AF"/>
                          </a:solidFill>
                        </a:defRPr>
                      </a:pPr>
                      <a:r>
                        <a:t>151,860 Patients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CA3AF"/>
                          </a:solidFill>
                        </a:defRPr>
                      </a:pPr>
                      <a:r>
                        <a:t>ROC-AUC: 0.8139 • Recall: 71.0%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CA3AF"/>
                          </a:solidFill>
                        </a:defRPr>
                      </a:pPr>
                      <a:r>
                        <a:t>15% Holdout (Youden's J = 0.4769)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9FA"/>
                          </a:solidFill>
                        </a:defRPr>
                      </a:pPr>
                      <a:r>
                        <a:t>2. 12-Lead ECG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CA3AF"/>
                          </a:solidFill>
                        </a:defRPr>
                      </a:pPr>
                      <a:r>
                        <a:t>1D-CNN Multi-Lead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CA3AF"/>
                          </a:solidFill>
                        </a:defRPr>
                      </a:pPr>
                      <a:r>
                        <a:t>21,799 PTB-XL Records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CA3AF"/>
                          </a:solidFill>
                        </a:defRPr>
                      </a:pPr>
                      <a:r>
                        <a:t>ROC-AUC: 0.9360 • Acc: 81.0%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CA3AF"/>
                          </a:solidFill>
                        </a:defRPr>
                      </a:pPr>
                      <a:r>
                        <a:t>Stratified Diagnostic Superclass Split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9FA"/>
                          </a:solidFill>
                        </a:defRPr>
                      </a:pPr>
                      <a:r>
                        <a:t>3. Heart Sound (PCG)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CA3AF"/>
                          </a:solidFill>
                        </a:defRPr>
                      </a:pPr>
                      <a:r>
                        <a:t>2D-CNN Mel-Spectrogram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CA3AF"/>
                          </a:solidFill>
                        </a:defRPr>
                      </a:pPr>
                      <a:r>
                        <a:t>3,126 CinC Recordings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CA3AF"/>
                          </a:solidFill>
                        </a:defRPr>
                      </a:pPr>
                      <a:r>
                        <a:t>ROC-AUC: 0.8000 • Acc: 75.3%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CA3AF"/>
                          </a:solidFill>
                        </a:defRPr>
                      </a:pPr>
                      <a:r>
                        <a:t>Official CinC Challenge Split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C4B6"/>
                          </a:solidFill>
                        </a:defRPr>
                      </a:pPr>
                      <a:r>
                        <a:t>★ Dual Ensemble (ECG + HS)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C4B6"/>
                          </a:solidFill>
                        </a:defRPr>
                      </a:pPr>
                      <a:r>
                        <a:t>Dynamic Confidence Late Fusion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C4B6"/>
                          </a:solidFill>
                        </a:defRPr>
                      </a:pPr>
                      <a:r>
                        <a:t>Combined Multi-Modal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C4B6"/>
                          </a:solidFill>
                        </a:defRPr>
                      </a:pPr>
                      <a:r>
                        <a:t>ROC-AUC: 0.9420 • Acc: 86.0%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C4B6"/>
                          </a:solidFill>
                        </a:defRPr>
                      </a:pPr>
                      <a:r>
                        <a:t>Compensates for tabular signal dilution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9FA"/>
                          </a:solidFill>
                        </a:defRPr>
                      </a:pPr>
                      <a:r>
                        <a:t>4. Camera rPPG / HRV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CA3AF"/>
                          </a:solidFill>
                        </a:defRPr>
                      </a:pPr>
                      <a:r>
                        <a:t>Butterworth Bandpass DSP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CA3AF"/>
                          </a:solidFill>
                        </a:defRPr>
                      </a:pPr>
                      <a:r>
                        <a:t>PPG_DATASET / BIDMC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CA3AF"/>
                          </a:solidFill>
                        </a:defRPr>
                      </a:pPr>
                      <a:r>
                        <a:t>Peak Detection F1: 98.40%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CA3AF"/>
                          </a:solidFill>
                        </a:defRPr>
                      </a:pPr>
                      <a:r>
                        <a:t>Validated against reference pulse-oximetry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9FA"/>
                          </a:solidFill>
                        </a:defRPr>
                      </a:pPr>
                      <a:r>
                        <a:t>5. SCG Accelerometer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CA3AF"/>
                          </a:solidFill>
                        </a:defRPr>
                      </a:pPr>
                      <a:r>
                        <a:t>1D-CNN Kinematic Ingest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CA3AF"/>
                          </a:solidFill>
                        </a:defRPr>
                      </a:pPr>
                      <a:r>
                        <a:t>TaebiLab-MSCardio (108 Subj)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CA3AF"/>
                          </a:solidFill>
                        </a:defRPr>
                      </a:pPr>
                      <a:r>
                        <a:t>AO Detection Acc: 94.20%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CA3AF"/>
                          </a:solidFill>
                        </a:defRPr>
                      </a:pPr>
                      <a:r>
                        <a:t>Tri-Axial Kinetic Mechanical Windowing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SENIOR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Future Work: Comprehensive Roadmap for CSE 499B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0A8E8"/>
                </a:solidFill>
              </a:defRPr>
            </a:pPr>
            <a:r>
              <a:t>1. PHYSICAL IOT DIAGNOSTIC HARDWARE</a:t>
            </a:r>
          </a:p>
          <a:p>
            <a:pPr>
              <a:spcAft>
                <a:spcPts val="1000"/>
              </a:spcAft>
              <a:defRPr b="1" sz="1300">
                <a:solidFill>
                  <a:srgbClr val="F8F9FA"/>
                </a:solidFill>
              </a:defRPr>
            </a:pPr>
            <a:r>
              <a:t>Low-Cost Wearable (~$95 BOM)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ESP32 dual-core microcontroller with Wi-Fi/BLE ($15).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AD8232 single-lead ECG front-end analog sensor ($20).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MAX30102 optical pulse-oximetry and heart-rate sensor ($15).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MAX9814 electret stethoscope microphone ($10).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ADXL345 3-axis digital accelerometer for chest SCG ($10).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0.96-inch I2C OLED display and 1200mAh LiPo battery ($25).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2EC4B6"/>
                </a:solidFill>
              </a:defRPr>
            </a:pPr>
            <a:r>
              <a:t>2. FIRMWARE &amp; MICROSECOND TIME SYNC</a:t>
            </a:r>
          </a:p>
          <a:p>
            <a:pPr>
              <a:spcAft>
                <a:spcPts val="1000"/>
              </a:spcAft>
              <a:defRPr b="1" sz="1300">
                <a:solidFill>
                  <a:srgbClr val="F8F9FA"/>
                </a:solidFill>
              </a:defRPr>
            </a:pPr>
            <a:r>
              <a:t>FreeRTOS Real-Time Scheduler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Deterministic FreeRTOS task scheduling on ESP32 cores.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Hardware timer interrupts for synchronized signal sampling.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Microsecond-accurate time alignment across ECG R-peaks, PCG S1/S2 audio, and optical pulse arrival times.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Enables non-invasive Pulse Transit Time (PTT) continuous BP.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E63946"/>
                </a:solidFill>
              </a:defRPr>
            </a:pPr>
            <a:r>
              <a:t>3. NEURAL STACKING &amp; PROSPECTIVE TRIALS</a:t>
            </a:r>
          </a:p>
          <a:p>
            <a:pPr>
              <a:spcAft>
                <a:spcPts val="1000"/>
              </a:spcAft>
              <a:defRPr b="1" sz="1300">
                <a:solidFill>
                  <a:srgbClr val="F8F9FA"/>
                </a:solidFill>
              </a:defRPr>
            </a:pPr>
            <a:r>
              <a:t>Advanced Meta-Learner &amp; Clinical Pilot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Transition heuristic confidence weighting to a trained neural stacking network.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Conduct IRB-compliant multi-subject clinical pilot studies.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Prospective validation against hospital electronic health records.</a:t>
            </a:r>
          </a:p>
          <a:p>
            <a:pPr>
              <a:spcAft>
                <a:spcPts val="500"/>
              </a:spcAft>
              <a:defRPr sz="1000">
                <a:solidFill>
                  <a:srgbClr val="9CA3AF"/>
                </a:solidFill>
              </a:defRPr>
            </a:pPr>
            <a:r>
              <a:t>• On-device quantization (TensorFlow Lite) for edge execution.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  <a:latin typeface="Arial"/>
              </a:defRPr>
            </a:pPr>
            <a:r>
              <a:t>NORTH SOUTH UNIVERSITY • CSE 499A SENIOR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9FA"/>
                </a:solidFill>
                <a:latin typeface="Arial"/>
              </a:defRPr>
            </a:pPr>
            <a:r>
              <a:t>Summary of Contributions &amp; Committee Q&amp;A Session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29260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0A8E8"/>
                </a:solidFill>
              </a:defRPr>
            </a:pPr>
            <a:r>
              <a:t>RESEARCH &amp; ENGINEERING DEFENSE SUMMARY</a:t>
            </a:r>
          </a:p>
          <a:p>
            <a:pPr>
              <a:spcAft>
                <a:spcPts val="400"/>
              </a:spcAft>
              <a:defRPr sz="1100">
                <a:solidFill>
                  <a:srgbClr val="F8F9FA"/>
                </a:solidFill>
              </a:defRPr>
            </a:pPr>
            <a:r>
              <a:t>✅ Full-Stack Multimodal Platform: Engineered an enterprise 4-tier decoupled platform integrating 6 heterogeneous biological modalities.</a:t>
            </a:r>
          </a:p>
          <a:p>
            <a:pPr>
              <a:spcAft>
                <a:spcPts val="400"/>
              </a:spcAft>
              <a:defRPr sz="1100">
                <a:solidFill>
                  <a:srgbClr val="F8F9FA"/>
                </a:solidFill>
              </a:defRPr>
            </a:pPr>
            <a:r>
              <a:t>✅ Scaled 151k Clinical Cohort: Eliminated single-hospital sample bias and pushed abnormal sensitivity to 71.0% with Youden's J calibration.</a:t>
            </a:r>
          </a:p>
          <a:p>
            <a:pPr>
              <a:spcAft>
                <a:spcPts val="400"/>
              </a:spcAft>
              <a:defRPr sz="1100">
                <a:solidFill>
                  <a:srgbClr val="F8F9FA"/>
                </a:solidFill>
              </a:defRPr>
            </a:pPr>
            <a:r>
              <a:t>✅ Dual Ensemble Superiority: Achieved 86.00% accuracy and 0.9420 ROC-AUC, resolving tabular signal dilution.</a:t>
            </a:r>
          </a:p>
          <a:p>
            <a:pPr>
              <a:spcAft>
                <a:spcPts val="400"/>
              </a:spcAft>
              <a:defRPr sz="1100">
                <a:solidFill>
                  <a:srgbClr val="F8F9FA"/>
                </a:solidFill>
              </a:defRPr>
            </a:pPr>
            <a:r>
              <a:t>✅ Dynamic Fault Tolerance: Validated 38.12% automated noise suppression under severe single-channel sensor failure conditions.</a:t>
            </a:r>
          </a:p>
          <a:p>
            <a:pPr>
              <a:spcAft>
                <a:spcPts val="400"/>
              </a:spcAft>
              <a:defRPr sz="1100">
                <a:solidFill>
                  <a:srgbClr val="F8F9FA"/>
                </a:solidFill>
              </a:defRPr>
            </a:pPr>
            <a:r>
              <a:t>✅ Clinical Interpretability: Delivered exact TreeSHAP attributions, prescriptive counterfactuals, and HL7/FHIR R4 medical exports.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725912" cy="14630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89204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EC4B6"/>
                </a:solidFill>
              </a:defRPr>
            </a:pPr>
            <a:r>
              <a:t>DEPARTMENT OF COMPUTER SCIENCE &amp; ENGINEERING • NORTH SOUTH UNIVERSITY</a:t>
            </a:r>
          </a:p>
          <a:p>
            <a:pPr>
              <a:defRPr b="1" sz="1300">
                <a:solidFill>
                  <a:srgbClr val="F8F9FA"/>
                </a:solidFill>
              </a:defRPr>
            </a:pPr>
            <a:r>
              <a:t>Candidate: Hussain Mahabub (ID: 2111015642)  |  Supervisor: Shahnewaz Siddique  |  CSE 499A - Section 10</a:t>
            </a:r>
          </a:p>
          <a:p>
            <a:pPr>
              <a:defRPr sz="1100">
                <a:solidFill>
                  <a:srgbClr val="00A8E8"/>
                </a:solidFill>
              </a:defRPr>
            </a:pPr>
            <a:r>
              <a:t>Thank you for your consideration. The floor is now open for questions and technical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