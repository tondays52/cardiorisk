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9728" cy="34747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CSE 499A: SENIOR DESIGN CAPSTONE DEFENSE</a:t>
            </a:r>
          </a:p>
          <a:p>
            <a:pPr>
              <a:spcBef>
                <a:spcPts val="1000"/>
              </a:spcBef>
              <a:defRPr sz="2400" b="1">
                <a:solidFill>
                  <a:srgbClr val="FFFFFF"/>
                </a:solidFill>
              </a:defRPr>
            </a:pPr>
            <a:r>
              <a:t>CardioRisk AI: A Multimodal Deep Learning System for Accessible Cardiovascular Risk Assessment</a:t>
            </a:r>
          </a:p>
          <a:p>
            <a:pPr>
              <a:spcBef>
                <a:spcPts val="2200"/>
              </a:spcBef>
              <a:defRPr sz="1300">
                <a:solidFill>
                  <a:srgbClr val="94A3B8"/>
                </a:solidFill>
              </a:defRPr>
            </a:pPr>
            <a:r>
              <a:t>Author: Hussain Mahabub (Student ID: 2111015642)</a:t>
            </a:r>
            <a:br/>
            <a:r>
              <a:t>Course: CSE 499A - Section 10 - Group 10</a:t>
            </a:r>
            <a:br/>
            <a:r>
              <a:t>Faculty Supervisor: Shahnewaz Siddique</a:t>
            </a:r>
            <a:br/>
            <a:r>
              <a:t>Department of Computer Science &amp; Engineering, North South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Problem Statement &amp; Clinical Motivation (What? &amp; Why?)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Global CVD Crisis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17.9M deaths annually (32% of all global mortality).</a:t>
            </a:r>
            <a:br/>
            <a:r>
              <a:t>• In the US, someone suffers a heart attack every 40 seconds.</a:t>
            </a:r>
            <a:br/>
            <a:r>
              <a:t>• $555B annual economic burden placed on healthcare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Traditional Clinical Gaps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Requires specialized clinical visits and phlebotomy labs.</a:t>
            </a:r>
            <a:br/>
            <a:r>
              <a:t>• High-cost ECG hardware unavailable in rural communities.</a:t>
            </a:r>
            <a:br/>
            <a:r>
              <a:t>• Severe specialist shortage creating diagnostic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CardioRisk AI Solution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Low-cost smartphone-based multimodal cardiac triage.</a:t>
            </a:r>
            <a:br/>
            <a:r>
              <a:t>• Real-time DSP on webcam PPG &amp; microphone PCG audio.</a:t>
            </a:r>
            <a:br/>
            <a:r>
              <a:t>• Calibrated Gradient Boosting + local SHAP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811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📌 What?  Introduction &amp; Problem Statement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📌 Why?   Background &amp; Literature Review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📌 How?   Proposed Solution &amp; System Design</a:t>
            </a:r>
          </a:p>
          <a:p>
            <a:pPr>
              <a:spcBef>
                <a:spcPts val="800"/>
              </a:spcBef>
              <a:defRPr sz="1600">
                <a:solidFill>
                  <a:srgbClr val="0F172A"/>
                </a:solidFill>
              </a:defRPr>
            </a:pPr>
            <a:r>
              <a:t>📊       Results: Preliminary Implementation Results</a:t>
            </a:r>
          </a:p>
          <a:p>
            <a:pPr>
              <a:spcBef>
                <a:spcPts val="800"/>
              </a:spcBef>
              <a:defRPr sz="1600">
                <a:solidFill>
                  <a:srgbClr val="0F172A"/>
                </a:solidFill>
              </a:defRPr>
            </a:pPr>
            <a:r>
              <a:t>🔮       Future Work: Roadmap for CSE 499B</a:t>
            </a:r>
          </a:p>
          <a:p>
            <a:pPr>
              <a:spcBef>
                <a:spcPts val="800"/>
              </a:spcBef>
              <a:defRPr sz="1600">
                <a:solidFill>
                  <a:srgbClr val="0F172A"/>
                </a:solidFill>
              </a:defRPr>
            </a:pPr>
            <a:r>
              <a:t>✅       Conclusion: Summary &amp;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Four-Tier Software Architecture (CSE 327 Standard)</a:t>
            </a:r>
          </a:p>
        </p:txBody>
      </p:sp>
      <p:pic>
        <p:nvPicPr>
          <p:cNvPr id="3" name="Picture 2" descr="Figure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13232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188720"/>
            <a:ext cx="3410712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Decoupled 4-Tier Stack</a:t>
            </a:r>
          </a:p>
          <a:p>
            <a:br/>
            <a:r>
              <a:t>1. Presentation Layer</a:t>
            </a:r>
            <a:br/>
            <a:r>
              <a:t>   • Streamlit dashboard</a:t>
            </a:r>
            <a:br/>
            <a:r>
              <a:t>   • Webcam/Mic capture</a:t>
            </a:r>
            <a:br/>
            <a:r>
              <a:t>   • Batch CSV uploader</a:t>
            </a:r>
            <a:br/>
            <a:br/>
            <a:r>
              <a:t>2. Middleware &amp; DSP Layer</a:t>
            </a:r>
            <a:br/>
            <a:r>
              <a:t>   • FastAPI async engine</a:t>
            </a:r>
            <a:br/>
            <a:r>
              <a:t>   • Butterworth filtering</a:t>
            </a:r>
            <a:br/>
            <a:r>
              <a:t>   • Spectral subtraction</a:t>
            </a:r>
            <a:br/>
            <a:br/>
            <a:r>
              <a:t>3. Model &amp; Logic Layer</a:t>
            </a:r>
            <a:br/>
            <a:r>
              <a:t>   • CNN models + XGBoost</a:t>
            </a:r>
            <a:br/>
            <a:r>
              <a:t>   • Dynamic ensemble</a:t>
            </a:r>
            <a:br/>
            <a:r>
              <a:t>   • SHAP explainability</a:t>
            </a:r>
            <a:br/>
            <a:br/>
            <a:r>
              <a:t>4. Data Access Layer</a:t>
            </a:r>
            <a:br/>
            <a:r>
              <a:t>   • SQLite (now)</a:t>
            </a:r>
            <a:br/>
            <a:r>
              <a:t>   • AWS RDS (future)</a:t>
            </a:r>
            <a:br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Architectures &amp; Training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Tabular Gradient Boosting</a:t>
            </a:r>
            <a:br/>
            <a:r>
              <a:t>(Live Deployed Model)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• Dataset: 69,971 Kaggle CVD records.</a:t>
            </a:r>
            <a:br/>
            <a:r>
              <a:t>• Features: 11 clinical features + BMI &amp; BP Ratio.</a:t>
            </a:r>
            <a:br/>
            <a:r>
              <a:t>• Training: Platt scaling calibration for reliable risk probabilities.</a:t>
            </a:r>
            <a:br/>
            <a:r>
              <a:t>• Evaluation: 72.67% Test Accuracy | 0.7940 AUC.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ECG 1D-CNN</a:t>
            </a:r>
            <a:br/>
            <a:r>
              <a:t>(Offline Benchmarked Model)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• Dataset: 2,000 PTB-XL 12-lead ECGs.</a:t>
            </a:r>
            <a:br/>
            <a:r>
              <a:t>• Architecture: 4 Conv1D blocks (64-&gt;128-&gt;256-&gt;512 filters).</a:t>
            </a:r>
            <a:br/>
            <a:r>
              <a:t>• Regularization: BatchNorm + ReLU + Dropout (0.5/0.3).</a:t>
            </a:r>
            <a:br/>
            <a:r>
              <a:t>• Evaluation: 81.00% Test Accuracy | 0.9360 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Heart Sound 2D-CNN</a:t>
            </a:r>
            <a:br/>
            <a:r>
              <a:t>(Offline Benchmarked Model)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• Dataset: 3,126 CinC 2016 Mel-spectrograms.</a:t>
            </a:r>
            <a:br/>
            <a:r>
              <a:t>• Architecture: 3 Conv2D blocks (32-&gt;64-&gt;128 filters).</a:t>
            </a:r>
            <a:br/>
            <a:r>
              <a:t>• Regularization: Global Average Pooling + Dropout.</a:t>
            </a:r>
            <a:br/>
            <a:r>
              <a:t>• Evaluation: 75.31% Test Accuracy | 0.8000 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Verified Experimental Results &amp; Multi-Model ROC Validation</a:t>
            </a:r>
          </a:p>
        </p:txBody>
      </p:sp>
      <p:pic>
        <p:nvPicPr>
          <p:cNvPr id="3" name="Picture 2" descr="Figure3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9436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188720"/>
            <a:ext cx="4599432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40880" y="1463040"/>
          <a:ext cx="423367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ECG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Heart Sound 2D-CNN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3,126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75.31%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Tabular (GBoost Live)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69,971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72.67%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Static Ensemble (All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76.79%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0.8526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B308"/>
                          </a:solidFill>
                        </a:defRPr>
                      </a:pPr>
                      <a:r>
                        <a:t>★ Dual Ensemble (ECG+HS)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B308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B308"/>
                          </a:solidFill>
                        </a:defRPr>
                      </a:pPr>
                      <a:r>
                        <a:t>86.00%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B308"/>
                          </a:solidFill>
                        </a:defRPr>
                      </a:pPr>
                      <a:r>
                        <a:t>0.9420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Multimodal Fusion &amp; Dynamic Confidence Weighting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The Static Dilution Problem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Linear Static Averaging (40% ECG, 40% HS, 20% Tabular) achieves 76.79% Accuracy.</a:t>
            </a:r>
            <a:br/>
            <a:r>
              <a:t>• Cause: The 72.67% tabular model dilutes the highly accurate 81.00% ECG signal.</a:t>
            </a:r>
            <a:br/>
            <a:r>
              <a:t>• Solution: Dual acoustic-electrical fusion (ECG + HS) eliminates dilution, achieving 86.00% Accuracy and 98.92% Sensitivity (Abnormal Recall).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Dynamic Confidence Weighting Engine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Confidence Formulation:</a:t>
            </a:r>
            <a:br/>
            <a:r>
              <a:t>   Confidence_m = |P_m - 0.50| * 2.0</a:t>
            </a:r>
            <a:br/>
            <a:br/>
            <a:r>
              <a:t>Weight Allocation:</a:t>
            </a:r>
            <a:br/>
            <a:r>
              <a:t>   w_m = Confidence_m / (Sum(Confidence_k) + 1e-6)</a:t>
            </a:r>
            <a:br/>
            <a:br/>
            <a:r>
              <a:t>• Decisive channels (P -&gt; 1.0 or 0.0) receive dominant weighting.</a:t>
            </a:r>
            <a:br/>
            <a:r>
              <a:t>• Corrupted/noisy channels (P ~ 0.50) are automatically down-weighted in real time, preventing false positives.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Explainable AI: SHAP &amp; Counterfactual Lifestyle Guidance</a:t>
            </a:r>
          </a:p>
        </p:txBody>
      </p:sp>
      <p:pic>
        <p:nvPicPr>
          <p:cNvPr id="3" name="Picture 2" descr="Figure2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9436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188720"/>
            <a:ext cx="4599432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4233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Transparent AI Explanations</a:t>
            </a:r>
          </a:p>
          <a:p>
            <a:br/>
            <a:r>
              <a:t>1. SHAP TreeExplainer</a:t>
            </a:r>
            <a:br/>
            <a:r>
              <a:t>   • Quantifies exact risk contributions for every clinical feature:</a:t>
            </a:r>
            <a:br/>
            <a:r>
              <a:t>     - Systolic BP: +0.152</a:t>
            </a:r>
            <a:br/>
            <a:r>
              <a:t>     - Age: +0.124</a:t>
            </a:r>
            <a:br/>
            <a:r>
              <a:t>     - Cholesterol: +0.081</a:t>
            </a:r>
            <a:br/>
            <a:r>
              <a:t>     - Smoking: +0.062</a:t>
            </a:r>
            <a:br/>
            <a:r>
              <a:t>     - BMI: +0.043</a:t>
            </a:r>
            <a:br/>
            <a:r>
              <a:t>     - Physical Activity: -0.038 (Protective)</a:t>
            </a:r>
            <a:br/>
            <a:br/>
            <a:r>
              <a:t>2. Counterfactual Optimization</a:t>
            </a:r>
            <a:br/>
            <a:r>
              <a:t>   • Calculates minimal lifestyle changes needed to reduce risk tier:</a:t>
            </a:r>
            <a:br/>
            <a:r>
              <a:t>     'Dropping Systolic BP by 15 mmHg &amp; smoking cessation reduces composite risk by 14.2%.'</a:t>
            </a:r>
            <a:br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Full-Stack Web Features &amp; Clinical Bulk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Single Patient Triage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Manual input forms with dynamic risk category gauges.</a:t>
            </a:r>
            <a:br/>
            <a:r>
              <a:t>• Real-time camera rPPG pulse extraction &amp; microphone audio monitoring.</a:t>
            </a:r>
            <a:br/>
            <a:r>
              <a:t>• Instant SHAP explanation plots &amp; What-If simulator.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High-Throughput Bulk CSV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Clinicians upload multi-patient CSV files.</a:t>
            </a:r>
            <a:br/>
            <a:r>
              <a:t>• Asynchronous batch risk scoring across thousands of records.</a:t>
            </a:r>
            <a:br/>
            <a:r>
              <a:t>• Automated risk-tier distribution charts &amp; filtered patient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Security &amp; Compliance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Role-based authentication &amp; token verification.</a:t>
            </a:r>
            <a:br/>
            <a:r>
              <a:t>• SQLite encrypted persistence for patient audit trails.</a:t>
            </a:r>
            <a:br/>
            <a:r>
              <a:t>• Structured REST API ready for cloud containerization.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Future Work: IoT Hardware Integration Stack (CSE 499B)</a:t>
            </a:r>
          </a:p>
        </p:txBody>
      </p:sp>
      <p:pic>
        <p:nvPicPr>
          <p:cNvPr id="3" name="Picture 2" descr="Figure4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94360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188720"/>
            <a:ext cx="4599432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42336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IoT Hardware Roadmap (~$95 BOM)</a:t>
            </a:r>
          </a:p>
          <a:p>
            <a:br/>
            <a:r>
              <a:t>Component           Purpose        Est. Cost</a:t>
            </a:r>
            <a:br/>
            <a:r>
              <a:t>───────────────     ────────────    ─────────</a:t>
            </a:r>
            <a:br/>
            <a:r>
              <a:t>ESP32 MCU           Main Processor    $15</a:t>
            </a:r>
            <a:br/>
            <a:r>
              <a:t>AD8232              ECG AFE           $20</a:t>
            </a:r>
            <a:br/>
            <a:r>
              <a:t>MAX30102            PPG Sensor        $15</a:t>
            </a:r>
            <a:br/>
            <a:r>
              <a:t>MAX9814             Stethoscope Mic    $10</a:t>
            </a:r>
            <a:br/>
            <a:r>
              <a:t>ADXL345             SCG Sensor         $10</a:t>
            </a:r>
            <a:br/>
            <a:r>
              <a:t>OLED + Battery      Display/Power      $25</a:t>
            </a:r>
            <a:br/>
            <a:r>
              <a:t>─────────────────────────────────────────────</a:t>
            </a:r>
            <a:br/>
            <a:r>
              <a:t>                    TOTAL             ~$95</a:t>
            </a:r>
            <a:br/>
            <a:br/>
            <a:r>
              <a:t>CSE 499B Milestones:</a:t>
            </a:r>
            <a:br/>
            <a:r>
              <a:t>1. Microsecond FreeRTOS interrupt sync</a:t>
            </a:r>
            <a:br/>
            <a:r>
              <a:t>2. Live streaming to pre-trained CNNs</a:t>
            </a:r>
            <a:br/>
            <a:r>
              <a:t>3. Multi-subject clinical trials</a:t>
            </a:r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Summary of Contributions &amp; Capstone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Full-Stack 4-Tier Platform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Operational FastAPI backend + Streamlit frontend.</a:t>
            </a:r>
            <a:br/>
            <a:r>
              <a:t>• Real-time webcam &amp; microphone DSP engines.</a:t>
            </a:r>
            <a:br/>
            <a:r>
              <a:t>• Batch CSV uploader &amp; audit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Verified Machine Learning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Live Gradient Boosting (72.67% Acc | 0.794 AUC).</a:t>
            </a:r>
            <a:br/>
            <a:r>
              <a:t>• Benchmarked ECG 1D-CNN (81.00% Acc | 0.936 AUC).</a:t>
            </a:r>
            <a:br/>
            <a:r>
              <a:t>• Benchmarked Audio 2D-CNN (75.31% Acc | 0.800 AUC).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Multimodal Synergy &amp; XAI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Dual Ensemble achieves 86.00% Acc &amp; 98.92% Sensitivity.</a:t>
            </a:r>
            <a:br/>
            <a:r>
              <a:t>• Transparent SHAP local feature attributions.</a:t>
            </a:r>
            <a:br/>
            <a:r>
              <a:t>• Concrete roadmap for 499B ESP32 IoT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CardioRisk AI: Accessible Multimodal Cardiovascular Risk Assessment</a:t>
            </a:r>
            <a:br/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1202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ton days</dc:creator>
  <cp:keywords/>
  <dc:description>generated using python-pptx</dc:description>
  <cp:lastModifiedBy>ton days</cp:lastModifiedBy>
  <cp:revision>1</cp:revision>
  <dcterms:created xsi:type="dcterms:W3CDTF">2013-01-27T09:14:16Z</dcterms:created>
  <dcterms:modified xsi:type="dcterms:W3CDTF">2026-08-30T06:07:53Z</dcterms:modified>
  <cp:category/>
</cp:coreProperties>
</file>