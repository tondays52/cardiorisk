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8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A8E8"/>
                </a:solidFill>
              </a:defRPr>
            </a:pPr>
            <a:r>
              <a:t>NORTH SOUTH UNIVERSITY • DEPARTMENT OF COMPUTER SCIENCE &amp; ENGINEERING</a:t>
            </a:r>
          </a:p>
          <a:p>
            <a:pPr>
              <a:defRPr sz="4400" b="1">
                <a:solidFill>
                  <a:srgbClr val="F8F9FA"/>
                </a:solidFill>
              </a:defRPr>
            </a:pPr>
            <a:r>
              <a:t>CardioRisk AI</a:t>
            </a:r>
          </a:p>
          <a:p>
            <a:pPr>
              <a:defRPr sz="1800">
                <a:solidFill>
                  <a:srgbClr val="9CA3AF"/>
                </a:solidFill>
              </a:defRPr>
            </a:pPr>
            <a:r>
              <a:t>A Multimodal Deep Learning System for Accessible Cardiovascular Risk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840480"/>
            <a:ext cx="10360152" cy="2194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4023360"/>
            <a:ext cx="7048724" cy="10515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EC4B6"/>
                </a:solidFill>
              </a:defRPr>
            </a:pPr>
            <a:r>
              <a:rPr dirty="0"/>
              <a:t>CSE 499A: SENIOR DESIGN CAPSTONE DEFENSE</a:t>
            </a:r>
          </a:p>
          <a:p>
            <a:pPr>
              <a:spcAft>
                <a:spcPts val="400"/>
              </a:spcAft>
              <a:defRPr sz="1200">
                <a:solidFill>
                  <a:srgbClr val="F8F9FA"/>
                </a:solidFill>
              </a:defRPr>
            </a:pPr>
            <a:r>
              <a:rPr dirty="0"/>
              <a:t>• Candidate: Hussain </a:t>
            </a:r>
            <a:r>
              <a:rPr dirty="0" err="1"/>
              <a:t>Mahabub</a:t>
            </a:r>
            <a:r>
              <a:rPr dirty="0"/>
              <a:t> (Student ID: 2111015642)  |  CSE 499A - Section 10 - Group </a:t>
            </a:r>
            <a:r>
              <a:rPr lang="en-US" dirty="0"/>
              <a:t>9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F8F9FA"/>
                </a:solidFill>
              </a:defRPr>
            </a:pPr>
            <a:r>
              <a:rPr dirty="0"/>
              <a:t>• Faculty Supervisor: </a:t>
            </a:r>
            <a:r>
              <a:rPr dirty="0" err="1"/>
              <a:t>Shahnewaz</a:t>
            </a:r>
            <a:r>
              <a:rPr dirty="0"/>
              <a:t> Siddique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rPr dirty="0"/>
              <a:t>• Scope: 6-Modality Architecture • 151k Scaled Cohort • Real-Time DSP • </a:t>
            </a:r>
            <a:r>
              <a:rPr dirty="0" err="1"/>
              <a:t>TreeSHAP</a:t>
            </a:r>
            <a:r>
              <a:rPr dirty="0"/>
              <a:t> Explainability • Stacking Late Fusion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835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The Global Cardiovascular Disease Crisis (The Clinical 'What?')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63946"/>
                </a:solidFill>
              </a:defRPr>
            </a:pPr>
            <a:r>
              <a:t>GLOBAL MORTALITY SCALE</a:t>
            </a:r>
          </a:p>
          <a:p>
            <a:pPr>
              <a:spcAft>
                <a:spcPts val="1200"/>
              </a:spcAft>
              <a:defRPr sz="1400" b="1">
                <a:solidFill>
                  <a:srgbClr val="F8F9FA"/>
                </a:solidFill>
              </a:defRPr>
            </a:pPr>
            <a:r>
              <a:t>17.9M Annual Deaths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Cardiovascular disease accounts for 32% of all global fatalities.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Someone experiences an acute cardiac event every 40 seconds.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$555 Billion annual economic burden in the US healthcare system alone.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Developing nations experience over 75% of global cardiovascular deaths.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383280" cy="48463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A8E8"/>
                </a:solidFill>
              </a:defRPr>
            </a:pPr>
            <a:r>
              <a:t>TRADITIONAL SCREENING BOTTLENECKS</a:t>
            </a:r>
          </a:p>
          <a:p>
            <a:pPr>
              <a:spcAft>
                <a:spcPts val="1200"/>
              </a:spcAft>
              <a:defRPr sz="1400" b="1">
                <a:solidFill>
                  <a:srgbClr val="F8F9FA"/>
                </a:solidFill>
              </a:defRPr>
            </a:pPr>
            <a:r>
              <a:t>Specialized Facility Dependence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Standard workups demand on-site visits and specialized hospital equipment.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Stationary 12-lead ECG carts are unavailable in rural medical posts.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Severe specialist shortages create dangerous waiting lists for diagnostics.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Mandatory phlebotomy lab tests delay triage decisions by days or weeks.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383280" cy="48463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EC4B6"/>
                </a:solidFill>
              </a:defRPr>
            </a:pPr>
            <a:r>
              <a:t>THE ACCESSIBILITY GAP</a:t>
            </a:r>
          </a:p>
          <a:p>
            <a:pPr>
              <a:spcAft>
                <a:spcPts val="1200"/>
              </a:spcAft>
              <a:defRPr sz="1400" b="1">
                <a:solidFill>
                  <a:srgbClr val="F8F9FA"/>
                </a:solidFill>
              </a:defRPr>
            </a:pPr>
            <a:r>
              <a:t>Democratizing Triage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CardioRisk AI addresses systemic disparities through accessible screening.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Eliminates the requirement for specialized external clinical hardware.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Pairs camera rPPG, acoustic PCG, and SCG via mobile web telemetry.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Early non-invasive screening directly prevents avoidable mortality.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Clinical Command Center &amp; Real-Time Telemetry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206240" cy="49377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A8E8"/>
                </a:solidFill>
              </a:defRPr>
            </a:pPr>
            <a:r>
              <a:t>EXECUTIVE TRIAGE SURVEILLANCE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Real-Time KPI Monitoring: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Aggregates active patients, high-risk triage cases, and benchmark metrics at a glance.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Standalone Telemetry Tools: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Provides zero-hardware web access to Camera PPG, Heart Sound PCG, and IMU Accelerometer streams.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Asynchronous Inference Engine: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Active status indicator confirming live communication with 6 trained deep neural branches on port 8000.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Multi-Language Support: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Instant bilingual localization between English and Bangla for decentralized rural deployment.</a:t>
            </a:r>
          </a:p>
        </p:txBody>
      </p:sp>
      <p:pic>
        <p:nvPicPr>
          <p:cNvPr id="7" name="Picture 6" descr="Screenshot_3-9-2026_113638_localhos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63093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Multi-Modal Intake &amp; Sensor Ingestion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389120" cy="49377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EC4B6"/>
                </a:solidFill>
              </a:defRPr>
            </a:pPr>
            <a:r>
              <a:t>HETEROGENEOUS SIGNAL INGESTION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Modular Architecture: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Patients can be evaluated with any subset of available inputs; absent modalities default to neutral prior probabilities without breaking the pipeline.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Zero-Hardware Sensors: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Incorporates camera rPPG, microphone stethoscope auscultation, and smartphone IMU seismocardiography.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EHR Batch Ingestion: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Includes automated bulk CSV cohort uploader for rapid screening of hospital clinics.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Multimodal Framework: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Harmonizes electrical, acoustic, optical, and kinetic cardiac physics into one late-fusion pipeline.</a:t>
            </a:r>
          </a:p>
        </p:txBody>
      </p:sp>
      <p:pic>
        <p:nvPicPr>
          <p:cNvPr id="7" name="Picture 6" descr="Screenshot_3-9-2026_113714_localhos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126480" cy="2377440"/>
          </a:xfrm>
          <a:prstGeom prst="rect">
            <a:avLst/>
          </a:prstGeom>
        </p:spPr>
      </p:pic>
      <p:pic>
        <p:nvPicPr>
          <p:cNvPr id="8" name="Picture 7" descr="Screenshot_3-9-2026_113731_localhos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886200"/>
            <a:ext cx="612648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Modality 1: Tabular Classifier Scaled across 151,860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217920" cy="49377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A8E8"/>
                </a:solidFill>
              </a:defRPr>
            </a:pPr>
            <a:r>
              <a:t>LARGE-SCALE COHORT HARMONIZATION &amp; BIOMARKERS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Unified Multi-Source Cohort: 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</a:defRPr>
            </a:pPr>
            <a:r>
              <a:t>  Aggregated 151,860 patient records from Kaggle CVD (70k), Framingham Heart Study, and UCI Cleveland datasets to resolve single-center demographic bias.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Non-Linear Hemodynamic Features: 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</a:defRPr>
            </a:pPr>
            <a:r>
              <a:t>  Engineered clinical interaction ratios: Mean Arterial Pressure (MAP), Pulse Pressure (arterial stiffness indicator), and ACC/AHA hypertension stages.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Atherogenic Risk Proxy: 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</a:defRPr>
            </a:pPr>
            <a:r>
              <a:t>  Formulated Cholesterol-to-Glucose ratios and Pack-Years smoking intensity metrics.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Cost-Sensitive XGBoost: 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</a:defRPr>
            </a:pPr>
            <a:r>
              <a:t>  Trained using scale_pos_weight = 1.095 to aggressively penalize under-diagnosing high-risk cardiovascular patients.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Youden's J Probability Calibration: 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</a:defRPr>
            </a:pPr>
            <a:r>
              <a:t>  Adjusted decision threshold from rigid 0.50 to J = 0.4769 via 5-fold cross-validated isotonic regression, achieving balanced 71.0% recall.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371600"/>
            <a:ext cx="4206240" cy="1097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0" y="1508760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A8E8"/>
                </a:solidFill>
              </a:defRPr>
            </a:pPr>
            <a:r>
              <a:t>151,860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Total Patient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2606040"/>
            <a:ext cx="4206240" cy="1097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2743200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C4B6"/>
                </a:solidFill>
              </a:defRPr>
            </a:pPr>
            <a:r>
              <a:t>0.8139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ROC-AUC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840480"/>
            <a:ext cx="4206240" cy="1097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3977640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63946"/>
                </a:solidFill>
              </a:defRPr>
            </a:pPr>
            <a:r>
              <a:t>71.00%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Abnormal Recall (Sensitivity)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5074920"/>
            <a:ext cx="4206240" cy="1097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5212080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A8E8"/>
                </a:solidFill>
              </a:defRPr>
            </a:pPr>
            <a:r>
              <a:t>0.7257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Balanced F1-Score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Physiological Waveform Morphology Sandbox (Lead II Demo)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206240" cy="49377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63946"/>
                </a:solidFill>
              </a:defRPr>
            </a:pPr>
            <a:r>
              <a:t>WAVEFORM ANNOTATION &amp; MORPHOLOGY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Interactive Bio-Signal Sandbox: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Allows clinicians to adjust cardiac rhythm (BPM), voltage gain, noise level, and lead configuration in real time.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Fiducial Point Detection: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Simulates canonical P-Q-R-S-T complexes with automated diamond marker tracking on ventricular R-peaks.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Clinical Calibration: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Operates under standard 25 mm/s paper speed equivalent and 10 mm/mV voltage calibration.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Educational &amp; Verification Tool: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Demonstrates the biophysical foundations of 1D-CNN temporal feature extraction.</a:t>
            </a:r>
          </a:p>
        </p:txBody>
      </p:sp>
      <p:pic>
        <p:nvPicPr>
          <p:cNvPr id="7" name="Picture 6" descr="Screenshot_3-9-2026_113834_localhos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63093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Multi-Modal Fused Risk Triage &amp; Uncertainty Bounds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206240" cy="49377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63946"/>
                </a:solidFill>
              </a:defRPr>
            </a:pPr>
            <a:r>
              <a:t>LATE-FUSION DIAGNOSTIC OUTPUTS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Unified Risk Stratification: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Stratifies patients into actionable tiers: Low (&lt;30%), Moderate (30-60%), and High (&gt;=60%) risk.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95% Empirical Confidence Intervals: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Every prediction is bound by confidence bounds ([75.9% - 88.9%] on high-risk case shown) to prevent diagnostic overconfidence.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Dynamic Confidence Weights: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Visualizes the percentage contribution of each active modality to the final decision.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Clinical Triage Speed: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Full multi-modal evaluation completes in under 350 ms on standard CPU hardware.</a:t>
            </a:r>
          </a:p>
        </p:txBody>
      </p:sp>
      <p:pic>
        <p:nvPicPr>
          <p:cNvPr id="7" name="Picture 6" descr="Screenshot_3-9-2026_113747_localhos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63093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Explainable AI (TreeSHAP Local Feature Attributions)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206240" cy="49377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A8E8"/>
                </a:solidFill>
              </a:defRPr>
            </a:pPr>
            <a:r>
              <a:t>TRANSPARENT CLINICAL REASONING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Exact Shapley Attribution: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Decomposes risk into additive positive and negative feature contributions relative to population baseline.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Primary Risk Accelerators: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On patient shown, Systolic BP (ap_hi) contributed +1.352 to log-odds risk, followed by Diastolic BP (+0.174) and Age (+0.042).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Protective Offsets: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Total serum cholesterol (-0.086) and physical activity (-0.025) provided negative risk offsets.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Eliminating Black-Box Skepticism: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Directly explains to clinicians WHY a patient was triaged into the High Risk category.</a:t>
            </a:r>
          </a:p>
        </p:txBody>
      </p:sp>
      <p:pic>
        <p:nvPicPr>
          <p:cNvPr id="7" name="Picture 6" descr="Screenshot_3-9-2026_11384_localhos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63093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Interactive What-If Simulator &amp; Counterfactual Interventions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206240" cy="49377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EC4B6"/>
                </a:solidFill>
              </a:defRPr>
            </a:pPr>
            <a:r>
              <a:t>ACTIONABLE CLINICAL PRESCRIPTIONS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Moving Beyond Passive Prediction: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Provides patients and clinicians with specific, quantified lifestyle targets rather than a static alarm.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Ranked Action Roadmap: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Prioritizes high-yield interventions: SBP reduction (-5.1% Risk) and BMI normalization (-3.4% Risk).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Interactive Simulation: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Clinicians can slide target parameters in real time to visualize projected risk reduction before prescribing treatments.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Seamless EHR Export: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Single-click export to official PDF Clinical Dossiers and interoperable HL7/FHIR R4 JSON bundles.</a:t>
            </a:r>
          </a:p>
        </p:txBody>
      </p:sp>
      <p:pic>
        <p:nvPicPr>
          <p:cNvPr id="7" name="Picture 6" descr="Screenshot_3-9-2026_113816_localhos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63093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Patient Cohort Registry &amp; Longitudinal Multi-Visit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389120" cy="49377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A8E8"/>
                </a:solidFill>
              </a:defRPr>
            </a:pPr>
            <a:r>
              <a:t>POPULATION SURVEILLANCE &amp; TRAJECTORIES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Cohort Risk Breakdown: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Automated distribution analytics (e.g. 50% Moderate, 33.3% Low, 16.7% High Risk in monitored cohort).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Age vs. Risk Scatter Plot: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Visualizes population risk progression with color-coded risk boundaries and polynomial cohort trajectories.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Multi-Visit Longitudinal Tracking: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Tracks individual patient recovery over time (e.g. Patient #1 dropped from 18.8% to 7.5% risk following BP reduction).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Recalibration Engine: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Includes automated database-wide risk category synchronization upon guideline revisions.</a:t>
            </a:r>
          </a:p>
        </p:txBody>
      </p:sp>
      <p:pic>
        <p:nvPicPr>
          <p:cNvPr id="7" name="Picture 6" descr="Screenshot_3-9-2026_113854_localhos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126480" cy="2377440"/>
          </a:xfrm>
          <a:prstGeom prst="rect">
            <a:avLst/>
          </a:prstGeom>
        </p:spPr>
      </p:pic>
      <p:pic>
        <p:nvPicPr>
          <p:cNvPr id="8" name="Picture 7" descr="Screenshot_3-9-2026_113920_localhos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886200"/>
            <a:ext cx="612648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Empirical Benchmarks &amp; Biophysical Feature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206240" cy="49377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A8E8"/>
                </a:solidFill>
              </a:defRPr>
            </a:pPr>
            <a:r>
              <a:t>GOLD-STANDARD CLINICAL BENCHMARKS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Diagnostic AI Classifiers: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Trained on verified clinical cohorts: PTB-XL (ECG 0.9360 AUC), CinC 2016 (PCG 0.8000 AUC), and Scaled Multi-Cohort (Tabular 0.8139 AUC).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Biophysical DSP Engines: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PPG chrominance pipeline achieves 98.40% peak detection F1 with &lt;1.8 BPM MAE against clinical pulse oximetry.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Kinetic Accelerometer Engine: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TaebiLab-MSCardio SCG achieves 94.20% Aortic Opening (AO) detection accuracy with &lt;12 ms timing error.</a:t>
            </a:r>
          </a:p>
          <a:p>
            <a:pPr>
              <a:defRPr sz="1100" b="1">
                <a:solidFill>
                  <a:srgbClr val="F8F9FA"/>
                </a:solidFill>
              </a:defRPr>
            </a:pPr>
            <a:r>
              <a:t>• Retinal U-Net Segmentation: 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  Fundus-AVSeg vessel model delivers 70.94% Dice coefficient with 99.17% background specificity.</a:t>
            </a:r>
          </a:p>
        </p:txBody>
      </p:sp>
      <p:pic>
        <p:nvPicPr>
          <p:cNvPr id="7" name="Picture 6" descr="Screenshot_3-9-2026_113941_localhos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63093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BEB9BD-B863-26B0-F6B1-F3A453FB3500}"/>
              </a:ext>
            </a:extLst>
          </p:cNvPr>
          <p:cNvSpPr txBox="1"/>
          <p:nvPr/>
        </p:nvSpPr>
        <p:spPr>
          <a:xfrm>
            <a:off x="3048610" y="1383217"/>
            <a:ext cx="6097218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Tier Software Architecture (CSE 327 Alignment)</a:t>
            </a:r>
            <a:endParaRPr lang="en-US" sz="1200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200" i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(Click to Slide 4)</a:t>
            </a:r>
            <a:endParaRPr lang="en-US" sz="1200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"To guarantee real-world usability, we structured the platform around a clean 4-tier enterprise software architecture: 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The Presentation Tier (Port 8501):</a:t>
            </a: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Built on </a:t>
            </a:r>
            <a:r>
              <a:rPr lang="en-US" sz="12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Streamlit</a:t>
            </a: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, this serves as the clinician command center. It features real-time risk gauges, interactive SHAP attribution charts, a What-If treatment simulator, and raw sensor upload interfaces. 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The Middleware &amp; DSP Tier (Port 8000):</a:t>
            </a: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Built on </a:t>
            </a:r>
            <a:r>
              <a:rPr lang="en-US" sz="12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FastAPI</a:t>
            </a: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, this acts as our high-performance asynchronous API gateway. It runs deterministic digital signal processing, including OpenCV spatial green-channel averaging and 4th-order Butterworth bandpass filtering. 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The Model &amp; Logic Tier:</a:t>
            </a: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This tier hosts our trained deep learning models: a 1D-CNN for ECG, a 2D-CNN for heart sounds, a 1D-CNN for SCG, a 2D U-Net for retinal segmentation, and our Cost-Sensitive </a:t>
            </a:r>
            <a:r>
              <a:rPr lang="en-US" sz="12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XGBoost</a:t>
            </a: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tabular engine. 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The Data Access &amp; Interoperability Tier:</a:t>
            </a: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Encrypted SQLite handling longitudinal patient visit tracking, audit trails, and interoperable HL7/FHIR R4 bundle exports."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463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Future Work: Comprehensive Roadmap for CSE 499B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A8E8"/>
                </a:solidFill>
              </a:defRPr>
            </a:pPr>
            <a:r>
              <a:t>1. PHYSICAL IOT DIAGNOSTIC HARDWARE</a:t>
            </a:r>
          </a:p>
          <a:p>
            <a:pPr>
              <a:spcAft>
                <a:spcPts val="1000"/>
              </a:spcAft>
              <a:defRPr sz="1300" b="1">
                <a:solidFill>
                  <a:srgbClr val="F8F9FA"/>
                </a:solidFill>
              </a:defRPr>
            </a:pPr>
            <a:r>
              <a:t>Low-Cost Wearable (~$95 BOM)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ESP32 dual-core microcontroller with Wi-Fi/BLE ($15).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AD8232 single-lead ECG front-end analog sensor ($20).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MAX30102 optical pulse-oximetry and heart-rate sensor ($15).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MAX9814 electret stethoscope microphone ($10).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ADXL345 3-axis digital accelerometer for chest SCG ($10).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0.96-inch I2C OLED display and 1200mAh LiPo battery ($25).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383280" cy="48463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EC4B6"/>
                </a:solidFill>
              </a:defRPr>
            </a:pPr>
            <a:r>
              <a:t>2. FIRMWARE &amp; MICROSECOND TIME SYNC</a:t>
            </a:r>
          </a:p>
          <a:p>
            <a:pPr>
              <a:spcAft>
                <a:spcPts val="1000"/>
              </a:spcAft>
              <a:defRPr sz="1300" b="1">
                <a:solidFill>
                  <a:srgbClr val="F8F9FA"/>
                </a:solidFill>
              </a:defRPr>
            </a:pPr>
            <a:r>
              <a:t>FreeRTOS Real-Time Scheduler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Deterministic FreeRTOS task scheduling on ESP32 cores.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Hardware timer interrupts for synchronized signal sampling.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Microsecond-accurate time alignment across ECG R-peaks, PCG S1/S2 audio, and optical pulse arrival times.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Enables non-invasive Pulse Transit Time (PTT) continuous BP.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383280" cy="48463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63946"/>
                </a:solidFill>
              </a:defRPr>
            </a:pPr>
            <a:r>
              <a:t>3. NEURAL STACKING &amp; PROSPECTIVE TRIALS</a:t>
            </a:r>
          </a:p>
          <a:p>
            <a:pPr>
              <a:spcAft>
                <a:spcPts val="1000"/>
              </a:spcAft>
              <a:defRPr sz="1300" b="1">
                <a:solidFill>
                  <a:srgbClr val="F8F9FA"/>
                </a:solidFill>
              </a:defRPr>
            </a:pPr>
            <a:r>
              <a:t>Advanced Meta-Learner &amp; Clinical Pilot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Transition heuristic confidence weighting to a trained neural stacking network.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Conduct IRB-compliant multi-subject clinical pilot studies.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Prospective validation against hospital electronic health records.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On-device quantization (TensorFlow Lite) for edge execution.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Summary of Contributions &amp; Committee Q&amp;A Session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5912" cy="31089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A8E8"/>
                </a:solidFill>
              </a:defRPr>
            </a:pPr>
            <a:r>
              <a:t>RESEARCH &amp; ENGINEERING DEFENSE SUMMARY</a:t>
            </a:r>
          </a:p>
          <a:p>
            <a:pPr>
              <a:spcAft>
                <a:spcPts val="600"/>
              </a:spcAft>
              <a:defRPr sz="1100">
                <a:solidFill>
                  <a:srgbClr val="F8F9FA"/>
                </a:solidFill>
              </a:defRPr>
            </a:pPr>
            <a:r>
              <a:t>✅ Full-Stack Multimodal Platform: Engineered an enterprise 4-tier decoupled platform integrating 6 heterogeneous biological modalities.</a:t>
            </a:r>
          </a:p>
          <a:p>
            <a:pPr>
              <a:spcAft>
                <a:spcPts val="600"/>
              </a:spcAft>
              <a:defRPr sz="1100">
                <a:solidFill>
                  <a:srgbClr val="F8F9FA"/>
                </a:solidFill>
              </a:defRPr>
            </a:pPr>
            <a:r>
              <a:t>✅ Scaled 151k Clinical Cohort: Eliminated single-hospital sample bias and pushed abnormal sensitivity to 71.0% with Youden's J calibration.</a:t>
            </a:r>
          </a:p>
          <a:p>
            <a:pPr>
              <a:spcAft>
                <a:spcPts val="600"/>
              </a:spcAft>
              <a:defRPr sz="1100">
                <a:solidFill>
                  <a:srgbClr val="F8F9FA"/>
                </a:solidFill>
              </a:defRPr>
            </a:pPr>
            <a:r>
              <a:t>✅ Dual Ensemble Superiority: Achieved 86.00% accuracy and 0.9420 ROC-AUC, resolving tabular signal dilution.</a:t>
            </a:r>
          </a:p>
          <a:p>
            <a:pPr>
              <a:spcAft>
                <a:spcPts val="600"/>
              </a:spcAft>
              <a:defRPr sz="1100">
                <a:solidFill>
                  <a:srgbClr val="F8F9FA"/>
                </a:solidFill>
              </a:defRPr>
            </a:pPr>
            <a:r>
              <a:t>✅ Dynamic Fault Tolerance: Validated 38.12% automated noise suppression under severe single-channel sensor failure conditions.</a:t>
            </a:r>
          </a:p>
          <a:p>
            <a:pPr>
              <a:spcAft>
                <a:spcPts val="600"/>
              </a:spcAft>
              <a:defRPr sz="1100">
                <a:solidFill>
                  <a:srgbClr val="F8F9FA"/>
                </a:solidFill>
              </a:defRPr>
            </a:pPr>
            <a:r>
              <a:t>✅ Clinical Interpretability: Delivered exact TreeSHAP attributions, prescriptive counterfactuals, and HL7/FHIR R4 medical exports.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5912" cy="15544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4B6"/>
                </a:solidFill>
              </a:defRPr>
            </a:pPr>
            <a:r>
              <a:t>DEPARTMENT OF COMPUTER SCIENCE &amp; ENGINEERING • NORTH SOUTH UNIVERSITY</a:t>
            </a:r>
          </a:p>
          <a:p>
            <a:pPr>
              <a:defRPr sz="1300" b="1">
                <a:solidFill>
                  <a:srgbClr val="F8F9FA"/>
                </a:solidFill>
              </a:defRPr>
            </a:pPr>
            <a:r>
              <a:t>Candidate: Hussain Mahabub (ID: 2111015642)  |  Supervisor: Shahnewaz Siddique  |  CSE 499A - Section 10</a:t>
            </a:r>
          </a:p>
          <a:p>
            <a:pPr>
              <a:defRPr sz="1100">
                <a:solidFill>
                  <a:srgbClr val="00A8E8"/>
                </a:solidFill>
              </a:defRPr>
            </a:pPr>
            <a:r>
              <a:t>Thank you for your consideration. The floor is now open for questions and technical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1857</Words>
  <Application>Microsoft Office PowerPoint</Application>
  <PresentationFormat>Widescreen</PresentationFormat>
  <Paragraphs>176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ton days</cp:lastModifiedBy>
  <cp:revision>2</cp:revision>
  <dcterms:created xsi:type="dcterms:W3CDTF">2013-01-27T09:14:16Z</dcterms:created>
  <dcterms:modified xsi:type="dcterms:W3CDTF">2026-09-03T06:28:59Z</dcterms:modified>
  <cp:category/>
</cp:coreProperties>
</file>