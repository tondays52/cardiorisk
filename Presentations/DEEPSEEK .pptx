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4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E11D48"/>
                </a:solidFill>
              </a:defRPr>
            </a:pPr>
            <a:r>
              <a:rPr dirty="0"/>
              <a:t>❤️ </a:t>
            </a:r>
            <a:r>
              <a:rPr dirty="0" err="1"/>
              <a:t>CardioRisk</a:t>
            </a:r>
            <a:r>
              <a:rPr dirty="0"/>
              <a:t> AI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</a:defRPr>
            </a:pPr>
            <a:r>
              <a:rPr dirty="0"/>
              <a:t>A Multimodal Deep Learning System for Smartphone-Based Cardiovascular Risk Assessment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rPr lang="en-US" dirty="0"/>
              <a:t>Hussain </a:t>
            </a:r>
            <a:r>
              <a:rPr lang="en-US" dirty="0" err="1"/>
              <a:t>Mahabub</a:t>
            </a:r>
            <a:endParaRPr lang="en-US" dirty="0"/>
          </a:p>
          <a:p>
            <a:pPr>
              <a:defRPr sz="1300">
                <a:solidFill>
                  <a:srgbClr val="64748B"/>
                </a:solidFill>
              </a:defRPr>
            </a:pPr>
            <a:r>
              <a:rPr lang="en-US" dirty="0"/>
              <a:t>2111015642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rPr dirty="0"/>
              <a:t>Course: CSE 499A – Capstone Project  |  Supervisor: </a:t>
            </a:r>
            <a:r>
              <a:rPr dirty="0" err="1"/>
              <a:t>Shahnewaz</a:t>
            </a:r>
            <a:br>
              <a:rPr dirty="0"/>
            </a:br>
            <a:r>
              <a:rPr dirty="0"/>
              <a:t>Department of Computer Science &amp; Engineering</a:t>
            </a:r>
            <a:br>
              <a:rPr dirty="0"/>
            </a:br>
            <a:r>
              <a:rPr dirty="0"/>
              <a:t>North South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Global Crisis &amp; 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The Cardiovascular Crisis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Cardiovascular diseases (CVDs) cause 17.9M global deaths annually (32% of all deaths).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Early risk detection is hindered by heavy clinical dependency and high equipment costs.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Traditional checkups require ECG machines, phlebotomy labs, and specialist interpretation.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Severely inaccessible in developing nations and rural medical deserts.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What We Are Doing (CardioRisk AI)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Developing a smartphone-based multimodal cardiovascular risk assessment platform.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Integrating 6 distinct physiological &amp; clinical modalities.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Deploying deep convolutional networks (CNNs) &amp; calibrated Gradient Boosting.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Providing live Explainable AI (SHAP) and counterfactual lifestyle paths.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Establishing an API-first foundation ready for dedicated IoT hardware in 499B.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Literature Review &amp; Identified Research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Existing Solutions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Clinical Calculators: Framingham &amp; ASCVD rely only on static tabular data (10-yr horizon).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Attia et al. (2019): Deep CNN on 12-lead ECG (AUC 0.870).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Poplin et al. (2018): Deep CNN on Retinal Fundus (AUC 0.754).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Potes et al. (2016): CNN+RNN on Heart Sounds (Acc 86.2%).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Identified Gaps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Gap 1: Single Modality Limits. Missing cross-domain signal correlation.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Gap 2: Black-Box AI. Lack of interpretability blocks clinical adoption.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Gap 3: Deployment Deficit. Research models rarely translated into usable mobile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Our Justification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Multimodal fusion significantly outperforms isolated single-modality checks.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SHAP values + Counterfactual recommendations build clinical trust.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FastAPI + Streamlit full-stack architecture ensures portable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Engineering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Layered Architecture (CSE 327)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Presentation Layer: Interactive Streamlit Web App (Port 8501) with live risk gauge &amp; What-If simulator.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Middleware Layer: Async FastAPI backend (Port 8000) with REST endpoints &amp; DSP pipelines.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Model Layer: 1D-CNN (ECG), 2D-CNN (Heart Sound), Calibrated Gradient Boosting (Tabular).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Data Access Layer: SQLite relational persistence with planned RDS PostgreSQL migration.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Six Integrated Modalities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1. Clinical Tabular: Age, Systolic/Diastolic BP, BMI, Lipids.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2. Electrocardiogram (ECG): 12-lead QRS, QT, ST elevation.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3. Heart Sounds (PCG): Phonocardiogram SNR &amp; spectral centroid.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4. PPG / HRV: Camera video frame photoplethysmography.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5. SCG: Seismocardiography via phone accelerometer.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6. Retinal Imaging: Microvascular tortuosity &amp; density.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Deep Learning Models &amp; Signal Processing (DSP)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Model Architectures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ECG 1D-CNN: 4 Conv1D Blocks + BatchNorm + MaxPool + GlobalAveragePool + Dense (Dropout 0.5/0.3).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Heart Sound 2D-CNN: Mel-spectrogram input processing with 2D convolutions &amp; spatial pooling.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Tabular Classifier: Gradient Boosting with Platt Scaling / Isotonic Calibration for true probabilities.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Laptop DSP Preprocessing Pipeline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PPG Processing: Spatial green-channel extraction, cubic spline interpolation (30 Hz), Butterworth bandpass (0.7-4.0 Hz).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Heart Sound DSP: Downsampling (44.1 kHz -&gt; 2 kHz), spectral subtraction for fan noise removal, bandpass filter (20-400 Hz).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Signal Matching: Standardizes laptop webcam/mic signals to match clinical training datasets (PTB-XL &amp; CinC 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Dynamic Confidence-Weighted Ensemble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The Static Weighting Paradox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Initial static weighting (0.40 ECG / 0.40 HS / 0.20 Tabular) caused accuracy dilution (dropped from 86.0% to 81.5%).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A static ensemble forces the system to trust uncertain, noisy modalities.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Fixed weights fail when sensor noise degrades a single modality channel.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Confidence-Weighted Solution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Confidence is dynamically computed: Confidence = 2 * |P - 0.5|.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Weights adaptively sum to 1 across all available modalities.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Confident models take priority; ambiguous models (P ~ 0.5) receive near-zero weight.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Result: Ensemble accuracy boosted to 82.50% (+1.00% over static).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Preliminary Implementation Results (499A)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/ 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 / Source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ECG 1D-CNN (Calibrated)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PTB-XL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Heart Sound CNN (Calibrated)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PhysioNet CinC 2016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3,126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80.50%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Tabular 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Kaggle CVD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Static Ensemble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Synthetic Paired 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81.50%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Dynamic Ensemble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Synthetic Paired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82.50%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0.923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Takeaway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Synthetic Validation: Independent test validation proves dynamic multimodal fusion provides high system resilience.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Fault Tolerance: If hardware noise corrupts ECG in real-time, the system automatically shifts weight to acoustic &amp; clinical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Explainable AI (XAI) &amp; Clinical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Explainability (SHAP &amp; Counterfactuals)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SHAP TreeExplainer: Computes local mathematical contributions for each clinical factor in real-time (e.g., BP: +0.15, Age: +0.12).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Counterfactual Explanations: Algorithmically discovers minimal lifestyle changes required to drop a patient into low-risk categories.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Eliminates the medical 'black box' problem to build doctor-patient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Interactive Clinical Tools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What-If Simulator: Real-time UI widgets allow clinicians to simulate blood pressure, smoking, and activity modifications.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Bulk Patient Processing: Batch CSV import to evaluate and classify large patient rosters in seconds.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Doctor Dashboard: Aggregated risk distribution graphs and persistent patient assessment logs via SQLite.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Work &amp; Hardware Integration (CSE 499B)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Physical IoT Hardware Stack (~$95 BOM)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Microcontroller: ESP32 (Wi-Fi / BLE dual-core processing).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ECG Sensor: AD8232 integrated analog front-end.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PPG Sensor: MAX30102 pulse oximetry sensor.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Heart Sounds: MAX9814 electret microphone amplifier.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Kinematics / SCG: ADXL345 3-axis accelerometer for chest micro-vibrations &amp; motion artifact cancellation.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Software &amp; Validation Roadmap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Firmware: FreeRTOS task scheduling with hardware timer interrupts for microsecond-accurate time-series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Stacking Meta-Learner: Train a secondary model to learn non-linear cross-modality correlations, closing the remaining baseline gap.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Cloud Migration: AWS EC2 backend hosting + AWS RDS PostgreSQL for high concurrency.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Clinical User Testing: End-to-end evaluation on real test participants.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CSE 499A CAPSTONE  |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References (IEEE Format)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[1] World Health Organization, 'Cardiovascular diseases (CVDs),' WHO Fact Sheet, 2021.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[2] E. J. Benjamin et al., 'Heart Disease and Stroke Statistics—2023 Update,' Circulation, vol. 147, no. 8, pp. e93-e621, 2023.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[3] S. F. Weng et al., 'Can machine-learning improve cardiovascular risk prediction using routine clinical data?,' PLOS ONE, 2017.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[4] Z. I. Attia et al., 'An artificial intelligence-enabled ECG algorithm for identification of atrial fibrillation,' The Lancet, 2019.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[5] P. Wagner et al., 'PTB-XL, a large publicly available electrocardiography dataset,' Scientific Data, vol. 7, p. 154, 2020.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[6] C. Liu et al., 'An open access database for the evaluation of heart sound algorithms,' Physiological Measurement, 2016.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 [7] S. M. Lundberg and S.-I. Lee, 'A unified approach to interpreting model predictions,' in NeurIPS, 2017, pp. 4765-4774.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4400" b="1">
                <a:solidFill>
                  <a:srgbClr val="E11D48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800" b="1">
                <a:solidFill>
                  <a:srgbClr val="0F172A"/>
                </a:solidFill>
              </a:defRPr>
            </a:pPr>
            <a:r>
              <a:t>CardioRisk AI: Smartphone-Based Cardiovascular Risk Assessment</a:t>
            </a:r>
            <a:br/>
            <a:r>
              <a:t>CSE 499A Capstone Defense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1403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ton days</dc:creator>
  <cp:keywords/>
  <dc:description>generated using python-pptx</dc:description>
  <cp:lastModifiedBy>ton days</cp:lastModifiedBy>
  <cp:revision>2</cp:revision>
  <dcterms:created xsi:type="dcterms:W3CDTF">2013-01-27T09:14:16Z</dcterms:created>
  <dcterms:modified xsi:type="dcterms:W3CDTF">2026-08-29T06:01:24Z</dcterms:modified>
  <cp:category/>
</cp:coreProperties>
</file>