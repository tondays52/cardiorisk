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38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9728" cy="347472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t>CSE 499A: SENIOR DESIGN CAPSTONE DEFENSE</a:t>
            </a:r>
          </a:p>
          <a:p>
            <a:pPr>
              <a:spcBef>
                <a:spcPts val="1000"/>
              </a:spcBef>
              <a:defRPr sz="2400" b="1">
                <a:solidFill>
                  <a:srgbClr val="FFFFFF"/>
                </a:solidFill>
              </a:defRPr>
            </a:pPr>
            <a:r>
              <a:t>CardioRisk AI: A Multimodal Deep Learning System for Accessible Cardiovascular Risk Assessment</a:t>
            </a:r>
          </a:p>
          <a:p>
            <a:pPr>
              <a:spcBef>
                <a:spcPts val="2200"/>
              </a:spcBef>
              <a:defRPr sz="1300">
                <a:solidFill>
                  <a:srgbClr val="94A3B8"/>
                </a:solidFill>
              </a:defRPr>
            </a:pPr>
            <a:r>
              <a:t>Author: Hussain Mahabub (Student ID: 2111015642)</a:t>
            </a:r>
            <a:br/>
            <a:r>
              <a:t>Course: CSE 499A - Section 10 - Group 10</a:t>
            </a:r>
            <a:br/>
            <a:r>
              <a:t>Faculty Supervisor: Shahnewaz Siddique</a:t>
            </a:r>
            <a:br/>
            <a:r>
              <a:t>Department of Computer Science &amp; Engineering, North South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Problem Statement &amp; Clinical Motivation (What? &amp; Why?)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56432" cy="914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Global CVD Crisis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17.9M deaths annually (32% of all global mortality).</a:t>
            </a:r>
            <a:br/>
            <a:r>
              <a:t>• In the US, someone suffers a heart attack every 40 seconds.</a:t>
            </a:r>
            <a:br/>
            <a:r>
              <a:t>• $555B annual economic burden placed on healthcare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456432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2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Traditional Clinical Gaps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Requires specialized clinical visits and phlebotomy labs.</a:t>
            </a:r>
            <a:br/>
            <a:r>
              <a:t>• High-cost ECG hardware unavailable in rural communities.</a:t>
            </a:r>
            <a:br/>
            <a:r>
              <a:t>• Severe specialist shortage creating diagnostic delays.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10144" y="1371600"/>
            <a:ext cx="3456432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CardioRisk AI Solution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Low-cost smartphone-based multimodal cardiac triage.</a:t>
            </a:r>
            <a:br/>
            <a:r>
              <a:t>• Real-time DSP on webcam PPG &amp; microphone PCG audio.</a:t>
            </a:r>
            <a:br/>
            <a:r>
              <a:t>• Calibrated Gradient Boosting + local SHAP explainability.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Four-Tier Software Architecture (CSE 327 Standard)</a:t>
            </a:r>
          </a:p>
        </p:txBody>
      </p:sp>
      <p:pic>
        <p:nvPicPr>
          <p:cNvPr id="3" name="Picture 2" descr="Figure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371600"/>
            <a:ext cx="3593592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92440" y="1600200"/>
            <a:ext cx="313639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Decoupled 4-Tier Stack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1. Presentation Layer (Port 8501)</a:t>
            </a:r>
            <a:br/>
            <a:r>
              <a:t>• Streamlit clinician dashboard with live risk gauges, audio/video capture, and bulk CSV ingestion.</a:t>
            </a:r>
            <a:br/>
            <a:br/>
            <a:r>
              <a:t>2. Middleware &amp; DSP Layer (Port 8000)</a:t>
            </a:r>
            <a:br/>
            <a:r>
              <a:t>• FastAPI asynchronous engine with OpenCV frame processing &amp; Butterworth filtering.</a:t>
            </a:r>
            <a:br/>
            <a:br/>
            <a:r>
              <a:t>3. Model &amp; Logic Layer</a:t>
            </a:r>
            <a:br/>
            <a:r>
              <a:t>• Live Calibrated Gradient Boosting + SHAP TreeExplainer &amp; Counterfactual Optimizer.</a:t>
            </a:r>
            <a:br/>
            <a:br/>
            <a:r>
              <a:t>4. Data Access Layer</a:t>
            </a:r>
            <a:br/>
            <a:r>
              <a:t>• Encrypted SQLite storage structured for seamless AWS RDS PostgreSQL migration.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Real-Time Digital Signal Processing (DSP) Pipelines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1. Remote PPG (Camera Pulse Extraction)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Spatial Green-Channel Averaging: Extracts subtle micro-vascular blood volume pulsations from video frames.</a:t>
            </a:r>
            <a:br/>
            <a:r>
              <a:t>• Cubic Spline Interpolation: Standardizes frame-rate jitter to 30 Hz.</a:t>
            </a:r>
            <a:br/>
            <a:r>
              <a:t>• 4th-Order Butterworth Filter: Bandpass (0.7 - 4.0 Hz) isolating human pulse rates (42 - 240 BPM).</a:t>
            </a:r>
            <a:br/>
            <a:r>
              <a:t>• Real-Time Peak Detection: Calculates inter-beat intervals (IBI) for instant heart rate calculation.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2. Acoustic PCG (Heart Sound Audio)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Audio Resampling: Standardizes microphone input signals to 2,000 Hz.</a:t>
            </a:r>
            <a:br/>
            <a:r>
              <a:t>• Spectral Subtraction: Subtracts stationary background room/fan noise.</a:t>
            </a:r>
            <a:br/>
            <a:r>
              <a:t>• Bandpass Filtering (20 - 400 Hz): Isolates primary S1/S2 heart valve sounds.</a:t>
            </a:r>
            <a:br/>
            <a:r>
              <a:t>• Mel-Spectrogram Conversion: Generates (128, 128) spectro-temporal matrices for deep CNN feature ingestion.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Model Architectures &amp; Training Foundations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56432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Tabular Gradient Boosting</a:t>
            </a:r>
            <a:br/>
            <a:r>
              <a:t>(Live Deployed Model)</a:t>
            </a:r>
          </a:p>
          <a:p>
            <a:pPr>
              <a:spcBef>
                <a:spcPts val="1000"/>
              </a:spcBef>
              <a:defRPr sz="1050">
                <a:solidFill>
                  <a:srgbClr val="475569"/>
                </a:solidFill>
              </a:defRPr>
            </a:pPr>
            <a:r>
              <a:t>• Dataset: 69,971 Kaggle CVD records.</a:t>
            </a:r>
            <a:br/>
            <a:r>
              <a:t>• Features: 11 clinical features + BMI &amp; BP Ratio.</a:t>
            </a:r>
            <a:br/>
            <a:r>
              <a:t>• Training: Platt scaling calibration for reliable risk probabilities.</a:t>
            </a:r>
            <a:br/>
            <a:r>
              <a:t>• Evaluation: 72.67% Test Accuracy | 0.7940 AUC.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456432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2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ECG 1D-CNN</a:t>
            </a:r>
            <a:br/>
            <a:r>
              <a:t>(Offline Benchmarked Model)</a:t>
            </a:r>
          </a:p>
          <a:p>
            <a:pPr>
              <a:spcBef>
                <a:spcPts val="1000"/>
              </a:spcBef>
              <a:defRPr sz="1050">
                <a:solidFill>
                  <a:srgbClr val="475569"/>
                </a:solidFill>
              </a:defRPr>
            </a:pPr>
            <a:r>
              <a:t>• Dataset: 2,000 PTB-XL 12-lead ECGs.</a:t>
            </a:r>
            <a:br/>
            <a:r>
              <a:t>• Architecture: 4 Conv1D blocks (64-&gt;128-&gt;256-&gt;512 filters).</a:t>
            </a:r>
            <a:br/>
            <a:r>
              <a:t>• Regularization: BatchNorm + ReLU + Dropout (0.5/0.3).</a:t>
            </a:r>
            <a:br/>
            <a:r>
              <a:t>• Evaluation: 81.00% Test Accuracy | 0.9360 AUC.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10144" y="1371600"/>
            <a:ext cx="3456432" cy="914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Heart Sound 2D-CNN</a:t>
            </a:r>
            <a:br/>
            <a:r>
              <a:t>(Offline Benchmarked Model)</a:t>
            </a:r>
          </a:p>
          <a:p>
            <a:pPr>
              <a:spcBef>
                <a:spcPts val="1000"/>
              </a:spcBef>
              <a:defRPr sz="1050">
                <a:solidFill>
                  <a:srgbClr val="475569"/>
                </a:solidFill>
              </a:defRPr>
            </a:pPr>
            <a:r>
              <a:t>• Dataset: 3,126 CinC 2016 Mel-spectrograms.</a:t>
            </a:r>
            <a:br/>
            <a:r>
              <a:t>• Architecture: 3 Conv2D blocks (32-&gt;64-&gt;128 filters).</a:t>
            </a:r>
            <a:br/>
            <a:r>
              <a:t>• Regularization: Global Average Pooling + Dropout.</a:t>
            </a:r>
            <a:br/>
            <a:r>
              <a:t>• Evaluation: 75.31% Test Accuracy | 0.8000 AUC.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Verified Experimental Results &amp; Multi-Model ROC Validation</a:t>
            </a:r>
          </a:p>
        </p:txBody>
      </p:sp>
      <p:pic>
        <p:nvPicPr>
          <p:cNvPr id="3" name="Picture 2" descr="Figure3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9377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32320" y="1371600"/>
          <a:ext cx="432511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1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2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AUC-ROC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ECG 1D-CNN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81.00%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0.9360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Heart Sound 2D-CNN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3,126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75.31%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Tabular (GBoost Live)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69,971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72.67%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0.7940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Static Ensemble (All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76.79%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0.8526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11D48"/>
                          </a:solidFill>
                        </a:defRPr>
                      </a:pPr>
                      <a:r>
                        <a:t>Dual Ensemble (ECG+HS)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11D48"/>
                          </a:solidFill>
                        </a:defRPr>
                      </a:pPr>
                      <a:r>
                        <a:t>Combined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11D48"/>
                          </a:solidFill>
                        </a:defRPr>
                      </a:pPr>
                      <a:r>
                        <a:t>86.00%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11D48"/>
                          </a:solidFill>
                        </a:defRPr>
                      </a:pPr>
                      <a:r>
                        <a:t>0.9420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Multimodal Fusion &amp; Dynamic Confidence Weighting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The Static Dilution Problem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Linear Static Averaging (40% ECG, 40% HS, 20% Tabular) achieves 76.79% Accuracy.</a:t>
            </a:r>
            <a:br/>
            <a:r>
              <a:t>• Cause: The 72.67% tabular model dilutes the highly accurate 81.00% ECG signal.</a:t>
            </a:r>
            <a:br/>
            <a:r>
              <a:t>• Solution: Dual acoustic-electrical fusion (ECG + HS) eliminates dilution, achieving 86.00% Accuracy and 98.92% Sensitivity (Abnormal Recall).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2. Dynamic Confidence Weighting Engine</a:t>
            </a:r>
          </a:p>
          <a:p>
            <a:pPr>
              <a:spcBef>
                <a:spcPts val="1000"/>
              </a:spcBef>
              <a:defRPr sz="1050">
                <a:solidFill>
                  <a:srgbClr val="475569"/>
                </a:solidFill>
              </a:defRPr>
            </a:pPr>
            <a:r>
              <a:t>Confidence Formulation:</a:t>
            </a:r>
            <a:br/>
            <a:r>
              <a:t>   Confidence_m = |P_m - 0.50| * 2.0</a:t>
            </a:r>
            <a:br/>
            <a:br/>
            <a:r>
              <a:t>Weight Allocation:</a:t>
            </a:r>
            <a:br/>
            <a:r>
              <a:t>   w_m = Confidence_m / (Sum(Confidence_k) + 1e-6)</a:t>
            </a:r>
            <a:br/>
            <a:br/>
            <a:r>
              <a:t>• Decisive channels (P -&gt; 1.0 or 0.0) receive dominant weighting.</a:t>
            </a:r>
            <a:br/>
            <a:r>
              <a:t>• Corrupted/noisy channels (P ~ 0.50) are automatically down-weighted in real time, preventing false positives.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Explainable AI: SHAP &amp; Counterfactual Lifestyle Guidance</a:t>
            </a:r>
          </a:p>
        </p:txBody>
      </p:sp>
      <p:pic>
        <p:nvPicPr>
          <p:cNvPr id="3" name="Picture 2" descr="Figure2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371600"/>
            <a:ext cx="3593592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92440" y="1600200"/>
            <a:ext cx="313639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Transparent AI Explanations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1. SHAP TreeExplainer</a:t>
            </a:r>
            <a:br/>
            <a:r>
              <a:t>• Quantifies exact risk contributions for every clinical feature:</a:t>
            </a:r>
            <a:br/>
            <a:r>
              <a:t>  - Systolic BP: +0.152</a:t>
            </a:r>
            <a:br/>
            <a:r>
              <a:t>  - Age: +0.124</a:t>
            </a:r>
            <a:br/>
            <a:r>
              <a:t>  - Cholesterol: +0.081</a:t>
            </a:r>
            <a:br/>
            <a:r>
              <a:t>  - Physical Activity: -0.038 (Protective)</a:t>
            </a:r>
            <a:br/>
            <a:br/>
            <a:r>
              <a:t>2. Counterfactual Optimization</a:t>
            </a:r>
            <a:br/>
            <a:r>
              <a:t>• Calculates minimal lifestyle changes needed to reduce risk tier:</a:t>
            </a:r>
            <a:br/>
            <a:r>
              <a:t>  'Dropping Systolic BP by 15 mmHg &amp; smoking cessation reduces composite risk by 14.2%.'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Full-Stack Web Features &amp; Clinical Bulk 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56432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Single Patient Triage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Manual input forms with dynamic risk category gauges.</a:t>
            </a:r>
            <a:br/>
            <a:r>
              <a:t>• Real-time camera rPPG pulse extraction &amp; microphone audio monitoring.</a:t>
            </a:r>
            <a:br/>
            <a:r>
              <a:t>• Instant SHAP explanation plots &amp; What-If simulator.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456432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2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High-Throughput Bulk CSV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Clinicians upload multi-patient CSV files.</a:t>
            </a:r>
            <a:br/>
            <a:r>
              <a:t>• Asynchronous batch risk scoring across thousands of records.</a:t>
            </a:r>
            <a:br/>
            <a:r>
              <a:t>• Automated risk-tier distribution charts &amp; filtered patient 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10144" y="1371600"/>
            <a:ext cx="3456432" cy="914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Security &amp; Compliance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Role-based authentication &amp; token verification.</a:t>
            </a:r>
            <a:br/>
            <a:r>
              <a:t>• SQLite encrypted persistence for patient audit trails.</a:t>
            </a:r>
            <a:br/>
            <a:r>
              <a:t>• Structured REST API ready for cloud containerization.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Future Work: IoT Hardware Integration Stack (CSE 499B)</a:t>
            </a:r>
          </a:p>
        </p:txBody>
      </p:sp>
      <p:pic>
        <p:nvPicPr>
          <p:cNvPr id="3" name="Picture 2" descr="Figure4_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863840" y="1371600"/>
            <a:ext cx="3593592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92440" y="1600200"/>
            <a:ext cx="313639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IoT Hardware Roadmap (~$95)</a:t>
            </a:r>
          </a:p>
          <a:p>
            <a:pPr>
              <a:spcBef>
                <a:spcPts val="800"/>
              </a:spcBef>
              <a:defRPr sz="950">
                <a:solidFill>
                  <a:srgbClr val="475569"/>
                </a:solidFill>
              </a:defRPr>
            </a:pPr>
            <a:r>
              <a:t>• ESP32 MCU (Dual-Core, FreeRTOS, BLE/Wi-Fi)</a:t>
            </a:r>
            <a:br/>
            <a:r>
              <a:t>• AD8232 ECG Sensor (Analog ADC)</a:t>
            </a:r>
            <a:br/>
            <a:r>
              <a:t>• MAX30102 PPG Sensor (I2C Bus 0x57)</a:t>
            </a:r>
            <a:br/>
            <a:r>
              <a:t>• MAX9814 Stethoscope Mic (Analog ADC)</a:t>
            </a:r>
            <a:br/>
            <a:r>
              <a:t>• ADXL345 SCG Accelerometer (I2C Bus 0x53)</a:t>
            </a:r>
            <a:br/>
            <a:br/>
            <a:r>
              <a:t>CSE 499B Milestones:</a:t>
            </a:r>
            <a:br/>
            <a:r>
              <a:t>1. Microsecond FreeRTOS hardware interrupt synchronization.</a:t>
            </a:r>
            <a:br/>
            <a:r>
              <a:t>2. Direct continuous streaming from ESP32 into pre-trained CNNs.</a:t>
            </a:r>
            <a:br/>
            <a:r>
              <a:t>3. Multi-subject human clinical trials.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591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CSE 499A CAPSTONE DEFENSE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Summary of Contributions &amp; Capstone Milestones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56432" cy="914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Full-Stack 4-Tier Platform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Operational FastAPI backend + Streamlit frontend.</a:t>
            </a:r>
            <a:br/>
            <a:r>
              <a:t>• Real-time webcam &amp; microphone DSP engines.</a:t>
            </a:r>
            <a:br/>
            <a:r>
              <a:t>• Batch CSV uploader &amp; audit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70832" y="1371600"/>
            <a:ext cx="3456432" cy="914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2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Verified Machine Learning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Live Gradient Boosting (72.67% Acc | 0.794 AUC).</a:t>
            </a:r>
            <a:br/>
            <a:r>
              <a:t>• Benchmarked ECG 1D-CNN (81.00% Acc | 0.936 AUC).</a:t>
            </a:r>
            <a:br/>
            <a:r>
              <a:t>• Benchmarked Audio 2D-CNN (75.31% Acc | 0.800 AUC).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371600"/>
            <a:ext cx="3456432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10144" y="1371600"/>
            <a:ext cx="3456432" cy="9144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8744" y="1645920"/>
            <a:ext cx="299923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Multimodal Synergy &amp; XAI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• Dual Ensemble achieves 86.00% Acc &amp; 98.92% Sensitivity.</a:t>
            </a:r>
            <a:br/>
            <a:r>
              <a:t>• Transparent SHAP local feature attributions.</a:t>
            </a:r>
            <a:br/>
            <a:r>
              <a:t>• Concrete roadmap for 499B ESP32 IoT hardware.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57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1500"/>
              </a:spcBef>
              <a:defRPr sz="1800">
                <a:solidFill>
                  <a:srgbClr val="94A3B8"/>
                </a:solidFill>
              </a:defRPr>
            </a:pPr>
            <a:r>
              <a:t>CardioRisk AI: Accessible Multimodal Cardiovascular Risk Assessment</a:t>
            </a:r>
            <a:br/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1294</Words>
  <Application>Microsoft Office PowerPoint</Application>
  <PresentationFormat>Widescreen</PresentationFormat>
  <Paragraphs>87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ton days</dc:creator>
  <cp:keywords/>
  <dc:description>generated using python-pptx</dc:description>
  <cp:lastModifiedBy>ton days</cp:lastModifiedBy>
  <cp:revision>1</cp:revision>
  <dcterms:created xsi:type="dcterms:W3CDTF">2013-01-27T09:14:16Z</dcterms:created>
  <dcterms:modified xsi:type="dcterms:W3CDTF">2026-08-30T05:40:32Z</dcterms:modified>
  <cp:category/>
</cp:coreProperties>
</file>