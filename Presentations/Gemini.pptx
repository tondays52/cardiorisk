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E11D48"/>
                </a:solidFill>
              </a:defRPr>
            </a:pPr>
            <a:r>
              <a:t>CardioRisk AI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 Multimodal Deep Learning System for Smartphone-Based Cardiovascular 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Presenter: Hussain Mahabub (Student ID: 2111015642)  |  Section 10 – Group 10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Course: CSE 499A – Senior Design Capstone Project  |  Supervisor: Shahnewaz Siddique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Department of Computer Science &amp; Engineering, North South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Global Crisis &amp; Project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The Cardiovascular Crisis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Cardiovascular diseases (CVDs) cause 17.9M global deaths annually (32% of all deaths).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Early risk detection is hindered by heavy clinical dependency and high equipment costs.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Traditional checkups require ECG machines, phlebotomy labs, and specialist interpretation.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Severely inaccessible in developing nations and rural medical deserts.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What We Are Doing (CardioRisk AI)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Developing a smartphone-based multimodal cardiovascular risk assessment platform.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Integrating 6 distinct physiological &amp; clinical modalities into a unified system.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Deploying deep convolutional networks (CNNs) &amp; calibrated Gradient Boosting.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Providing live Explainable AI (SHAP) and counterfactual lifestyle pathways.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Establishing an API-first foundation ready for dedicated IoT hardware in 499B.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Literature Review &amp; Identified Research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Existing Solutions &amp; Benchmarks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Clinical Calculators: Framingham &amp; ASCVD rely only on static tabular data (10-yr horizon).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Attia et al. (2019): Deep 1D-CNN on 12-lead ECG (AUC 0.870).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Potes et al. (2016): CNN + RNN on Heart Sounds / PCG (Acc 86.2%).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Poplin et al. (2018): Deep CNN on Retinal Fundus (AUC 0.754).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Identified Gaps &amp; Our Justification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Gap 1: Single Modality Limits. Missing cross-domain physiological correlation.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Gap 2: Black-Box AI. Lack of interpretability blocks clinical adoption.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Gap 3: Deployment Deficit. Research models rarely translated into mobile software.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Our Justification: Multimodal fusion + SHAP values + Counterfactuals build clinical trust.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FastAPI + Streamlit full-stack architecture ensures portable, real-time accessibility.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Engineering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Layered Architecture (CSE 327)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Presentation Layer: Interactive Streamlit Web App (Port 8501) with live risk gauge &amp; What-If simulator.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Middleware Layer: Async FastAPI backend (Port 8000) with REST endpoints &amp; DSP pipelines.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Model Layer: 1D-CNN (ECG), 2D-CNN (Heart Sound), Calibrated Gradient Boosting (Tabular).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Data Access Layer: SQLite relational persistence with planned RDS PostgreSQL migration.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Six Integrated Modalities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1. Clinical Tabular: Age, Systolic/Diastolic BP, BMI, Lipids, Glycemia.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2. Electrocardiogram (ECG): 12-lead QRS, QT interval, ST elevation.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3. Heart Sounds (PCG): Phonocardiogram SNR &amp; spectral centroid.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4. PPG / HRV: Camera video frame photoplethysmography (HRV metrics).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5. SCG: Seismocardiography via phone accelerometer vibrations.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6. Retinal Imaging: Microvascular tortuosity &amp; vessel density.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Deep Learning Models &amp; Signal Processing (DSP)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Model Architectures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ECG 1D-CNN: 4 Conv1D Blocks + BatchNorm + MaxPool + GlobalAveragePool + Dense (Dropout 0.5/0.3).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Heart Sound 2D-CNN: Mel-spectrogram input processing with 2D convolutions &amp; spatial pooling.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Tabular Classifier: Gradient Boosting with Platt Scaling / Isotonic Calibration for true probabilities.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Digital Signal Processing (DSP) Pipeline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PPG Processing: Spatial green-channel extraction, cubic spline interpolation (30 Hz), Butterworth bandpass (0.7-4.0 Hz).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Heart Sound DSP: Downsampling (44.1 kHz -&gt; 2 kHz), spectral subtraction for fan noise removal, bandpass filter (20-400 Hz).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Signal Matching: Standardizes consumer webcam/mic signals to match clinical training datasets (PTB-XL &amp; CinC 2016).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Dynamic Confidence-Weighted Ensemble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Static vs. Dynamic Fusion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Static Weighting (40% ECG / 40% HS / 20% Tabular) achieves 94.65% on clean data.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Vulnerability: Static ensembles force the system to trust degraded, noisy modalities.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Fixed weights fail when sensor noise corrupts a single hardware channel.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Confidence-Weighted Solution &amp; Fault Tolerance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Confidence is dynamically computed: Confidence = 2 * |P - 0.50|.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Weights adaptively sum to 1 across active modalities.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Decisive models take priority; ambiguous models (P ~ 0.50) receive near-zero weight.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Dynamic ensemble achieves 93.65% accuracy with superior fault tolerance.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Automated weight reduction: Noise drops corrupted channel weight by 38.12%.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Preliminary Implementation Results (499A)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2011680"/>
                <a:gridCol w="210312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 /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 / Source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ECG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PTB-XL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93.05%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0.9838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Heart Sound 2D-CNN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PhysioNet CinC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3,126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75.85%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0.8540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Tabular (Gradient Boosting)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Kaggle 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69,971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68.95%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0.7643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Static Ensemble (40/40/20)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Combined (Clean)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94.65%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0.9879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Dynamic Ensemble (Proposed)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Confidence-Weighted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93.65%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0.9832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Key Takeaway: Clean Accuracy vs. Fault Tolerance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Static Fusion is optimal for clean signals (94.65% Acc, 0.9879 AUC).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Dynamic Fusion trades minor clean-signal margin for critical fault tolerance (93.65% Acc)[cite: 8,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Under noise injection, dynamic weighting automatically drops corrupted sensor weight from 41.25% down to 3.13% (maintaining 81.55% accuracy).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Explainable AI (XAI) &amp; Clinical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Explainability (SHAP &amp; Counterfactuals)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SHAP TreeExplainer: Computes local mathematical contributions for each factor (e.g., BP: +0.12, Age: +0.15)[cite: 7,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Counterfactual Engine: Discovers minimal lifestyle changes required to drop patient risk to normal thresholds (e.g., -8.5% for smoking cessation)[cite: 7,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Eliminates the medical 'black box' problem to build doctor-patient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Interactive Clinical Tools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What-If Simulator: Real-time UI widgets allow clinicians to simulate blood pressure and lifestyle modifications.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Bulk Patient Processing: Batch CSV import to evaluate and classify large patient rosters in seconds.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Doctor Dashboard: Aggregated risk distribution graphs and persistent patient assessment logs via SQLite.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Future Work &amp; Hardware Integration (CSE 499B)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Physical IoT Hardware Stack (~$95 BOM)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Microcontroller: ESP32 (Wi-Fi / BLE dual-core processing) ($15).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ECG Sensor: AD8232 integrated analog front-end ($20).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PPG Sensor: MAX30102 pulse oximetry sensor ($15).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Heart Sounds: MAX9814 electret microphone amplifier ($10).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Kinematics / SCG: ADXL345 3-axis accelerometer for chest micro-vibrations ($10).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Software &amp; Validation Roadmap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Firmware: FreeRTOS task scheduling with hardware timer interrupts for microsecond-accurate time-series synchronization.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Stacking Meta-Learner: Train a secondary model to learn non-linear cross-modality correlations.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Cloud Migration: AWS EC2 backend hosting + AWS RDS PostgreSQL for high concurrency.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Clinical User Testing: End-to-end evaluation on real test participants.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References (IEEE Format)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Cited Literature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[1] World Health Organization, 'Cardiovascular diseases (CVDs),' WHO Fact Sheet, 2021.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[2] E. J. Benjamin et al., 'Heart Disease and Stroke Statistics—2023 Update,' Circulation, vol. 147, no. 8, pp. e93-e621, 2023[cite: 1,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[3] S. F. Weng et al., 'Can machine-learning improve cardiovascular risk prediction using routine clinical data?,' PLOS ONE, 2017[cite: 1,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[4] Z. I. Attia et al., 'An artificial intelligence-enabled ECG algorithm for identification of atrial fibrillation,' The Lancet, 2019[cite: 1,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[5] P. Wagner et al., 'PTB-XL, a large publicly available electrocardiography dataset,' Scientific Data, vol. 7, p. 154, 2020[cite: 1,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[6] C. Liu et al., 'An open access database for the evaluation of heart sound algorithms,' Physiological Measurement, 2016[cite: 1, 11].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[7] S. M. Lundberg and S.-I. Lee, 'A unified approach to interpreting model predictions,' in NeurIPS, 2017, pp. 4765-4774[cite: 1, 11].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E11D48"/>
                </a:solidFill>
              </a:defRPr>
            </a:pPr>
            <a:r>
              <a:t>Thank You!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0F172A"/>
                </a:solidFill>
              </a:defRPr>
            </a:pPr>
            <a:r>
              <a:t>CardioRisk AI: Smartphone-Based Cardiovascular Risk Assessment</a:t>
            </a:r>
          </a:p>
          <a:p>
            <a:pPr algn="ctr">
              <a:defRPr sz="1600">
                <a:solidFill>
                  <a:srgbClr val="475569"/>
                </a:solidFill>
              </a:defRPr>
            </a:pPr>
            <a:r>
              <a:t>CSE 499A Capstone Defense  |  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